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3470a8dd964498" /><Relationship Type="http://schemas.openxmlformats.org/officeDocument/2006/relationships/extended-properties" Target="/docProps/app.xml" Id="R83d5e88d41cf41ac" /><Relationship Type="http://schemas.openxmlformats.org/officeDocument/2006/relationships/officeDocument" Target="/ppt/presentation.xml" Id="R129d770ad2154f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a564b10ed54210"/>
  </p:sldMasterIdLst>
  <p:notesMasterIdLst>
    <p:notesMasterId xmlns:r="http://schemas.openxmlformats.org/officeDocument/2006/relationships" r:id="R65e16e69634440e3"/>
  </p:notesMasterIdLst>
  <p:sldIdLst>
    <p:sldId xmlns:r="http://schemas.openxmlformats.org/officeDocument/2006/relationships" id="256" r:id="Rfa1a579c618d4f2c"/>
    <p:sldId xmlns:r="http://schemas.openxmlformats.org/officeDocument/2006/relationships" id="257" r:id="Rf1535d2dac0745a7"/>
    <p:sldId xmlns:r="http://schemas.openxmlformats.org/officeDocument/2006/relationships" id="258" r:id="R04efb95001224527"/>
    <p:sldId xmlns:r="http://schemas.openxmlformats.org/officeDocument/2006/relationships" id="259" r:id="R570fe22677a14d02"/>
    <p:sldId xmlns:r="http://schemas.openxmlformats.org/officeDocument/2006/relationships" id="260" r:id="R983bd68ff3d44f3c"/>
    <p:sldId xmlns:r="http://schemas.openxmlformats.org/officeDocument/2006/relationships" id="261" r:id="R87e46e1a551c4ee8"/>
    <p:sldId xmlns:r="http://schemas.openxmlformats.org/officeDocument/2006/relationships" id="262" r:id="Rf4162645a1d34416"/>
    <p:sldId xmlns:r="http://schemas.openxmlformats.org/officeDocument/2006/relationships" id="263" r:id="Rb51a3b69e2e84717"/>
    <p:sldId xmlns:r="http://schemas.openxmlformats.org/officeDocument/2006/relationships" id="264" r:id="R012bbbc74fba41e9"/>
    <p:sldId xmlns:r="http://schemas.openxmlformats.org/officeDocument/2006/relationships" id="265" r:id="R7fcca08d0629417a"/>
    <p:sldId xmlns:r="http://schemas.openxmlformats.org/officeDocument/2006/relationships" id="266" r:id="R9d5b8bcf31844fed"/>
    <p:sldId xmlns:r="http://schemas.openxmlformats.org/officeDocument/2006/relationships" id="267" r:id="R717f9a26ca4945d9"/>
    <p:sldId xmlns:r="http://schemas.openxmlformats.org/officeDocument/2006/relationships" id="268" r:id="Rf71b8652c9154714"/>
    <p:sldId xmlns:r="http://schemas.openxmlformats.org/officeDocument/2006/relationships" id="269" r:id="Rb58762a2c8cd4ff2"/>
    <p:sldId xmlns:r="http://schemas.openxmlformats.org/officeDocument/2006/relationships" id="270" r:id="R0ab09e0d951246f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5d4a6cb96d4958" /><Relationship Type="http://schemas.openxmlformats.org/officeDocument/2006/relationships/slideMaster" Target="/ppt/slideMasters/slideMaster1.xml" Id="R69a564b10ed54210" /><Relationship Type="http://schemas.openxmlformats.org/officeDocument/2006/relationships/notesMaster" Target="/ppt/notesMasters/notesMaster1.xml" Id="R65e16e69634440e3" /><Relationship Type="http://schemas.openxmlformats.org/officeDocument/2006/relationships/presProps" Target="/ppt/presProps.xml" Id="R97ee91b11ff4435c" /><Relationship Type="http://schemas.openxmlformats.org/officeDocument/2006/relationships/tableStyles" Target="/ppt/tableStyles.xml" Id="R8d75b1f52db34ec1" /><Relationship Type="http://schemas.openxmlformats.org/officeDocument/2006/relationships/slide" Target="/ppt/slides/slide1.xml" Id="Rfa1a579c618d4f2c" /><Relationship Type="http://schemas.openxmlformats.org/officeDocument/2006/relationships/slide" Target="/ppt/slides/slide2.xml" Id="Rf1535d2dac0745a7" /><Relationship Type="http://schemas.openxmlformats.org/officeDocument/2006/relationships/slide" Target="/ppt/slides/slide3.xml" Id="R04efb95001224527" /><Relationship Type="http://schemas.openxmlformats.org/officeDocument/2006/relationships/slide" Target="/ppt/slides/slide4.xml" Id="R570fe22677a14d02" /><Relationship Type="http://schemas.openxmlformats.org/officeDocument/2006/relationships/slide" Target="/ppt/slides/slide5.xml" Id="R983bd68ff3d44f3c" /><Relationship Type="http://schemas.openxmlformats.org/officeDocument/2006/relationships/slide" Target="/ppt/slides/slide6.xml" Id="R87e46e1a551c4ee8" /><Relationship Type="http://schemas.openxmlformats.org/officeDocument/2006/relationships/slide" Target="/ppt/slides/slide7.xml" Id="Rf4162645a1d34416" /><Relationship Type="http://schemas.openxmlformats.org/officeDocument/2006/relationships/slide" Target="/ppt/slides/slide8.xml" Id="Rb51a3b69e2e84717" /><Relationship Type="http://schemas.openxmlformats.org/officeDocument/2006/relationships/slide" Target="/ppt/slides/slide9.xml" Id="R012bbbc74fba41e9" /><Relationship Type="http://schemas.openxmlformats.org/officeDocument/2006/relationships/slide" Target="/ppt/slides/slide10.xml" Id="R7fcca08d0629417a" /><Relationship Type="http://schemas.openxmlformats.org/officeDocument/2006/relationships/slide" Target="/ppt/slides/slide11.xml" Id="R9d5b8bcf31844fed" /><Relationship Type="http://schemas.openxmlformats.org/officeDocument/2006/relationships/slide" Target="/ppt/slides/slide12.xml" Id="R717f9a26ca4945d9" /><Relationship Type="http://schemas.openxmlformats.org/officeDocument/2006/relationships/slide" Target="/ppt/slides/slide13.xml" Id="Rf71b8652c9154714" /><Relationship Type="http://schemas.openxmlformats.org/officeDocument/2006/relationships/slide" Target="/ppt/slides/slide14.xml" Id="Rb58762a2c8cd4ff2" /><Relationship Type="http://schemas.openxmlformats.org/officeDocument/2006/relationships/slide" Target="/ppt/slides/slide15.xml" Id="R0ab09e0d951246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56b133f6fb4a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f87100484945c4" /><Relationship Type="http://schemas.openxmlformats.org/officeDocument/2006/relationships/notesMaster" Target="/ppt/notesMasters/notesMaster1.xml" Id="R0b74eb37d4d4428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c965c5a53f4afa" /><Relationship Type="http://schemas.openxmlformats.org/officeDocument/2006/relationships/notesMaster" Target="/ppt/notesMasters/notesMaster1.xml" Id="R11c3f9d0eaaf4a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118d7f77f2d457b" /><Relationship Type="http://schemas.openxmlformats.org/officeDocument/2006/relationships/notesMaster" Target="/ppt/notesMasters/notesMaster1.xml" Id="Rb91b2410680e41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5be224219a4636" /><Relationship Type="http://schemas.openxmlformats.org/officeDocument/2006/relationships/notesMaster" Target="/ppt/notesMasters/notesMaster1.xml" Id="R76e4d384cd6949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e2f368bb814d2e" /><Relationship Type="http://schemas.openxmlformats.org/officeDocument/2006/relationships/notesMaster" Target="/ppt/notesMasters/notesMaster1.xml" Id="R397df458bd414ea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0c76f197c024eef" /><Relationship Type="http://schemas.openxmlformats.org/officeDocument/2006/relationships/notesMaster" Target="/ppt/notesMasters/notesMaster1.xml" Id="R08b0fac2e32a457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3504dfc94e4638" /><Relationship Type="http://schemas.openxmlformats.org/officeDocument/2006/relationships/notesMaster" Target="/ppt/notesMasters/notesMaster1.xml" Id="R42c48789017f41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0f95e5bbb64b52" /><Relationship Type="http://schemas.openxmlformats.org/officeDocument/2006/relationships/notesMaster" Target="/ppt/notesMasters/notesMaster1.xml" Id="Rb69ff311a19242c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539b648544e4c36" /><Relationship Type="http://schemas.openxmlformats.org/officeDocument/2006/relationships/notesMaster" Target="/ppt/notesMasters/notesMaster1.xml" Id="Rdf04e1130bf0490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4464ad79e8479e" /><Relationship Type="http://schemas.openxmlformats.org/officeDocument/2006/relationships/notesMaster" Target="/ppt/notesMasters/notesMaster1.xml" Id="Re3180800c23741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71ab994507a4373" /><Relationship Type="http://schemas.openxmlformats.org/officeDocument/2006/relationships/notesMaster" Target="/ppt/notesMasters/notesMaster1.xml" Id="R6dad0ab1d8534da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48b3c936c24417d" /><Relationship Type="http://schemas.openxmlformats.org/officeDocument/2006/relationships/notesMaster" Target="/ppt/notesMasters/notesMaster1.xml" Id="Rd806fa2c26cf48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2f3d645677e49af" /><Relationship Type="http://schemas.openxmlformats.org/officeDocument/2006/relationships/notesMaster" Target="/ppt/notesMasters/notesMaster1.xml" Id="Rd7c76c758eba414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cf357577bb44f8" /><Relationship Type="http://schemas.openxmlformats.org/officeDocument/2006/relationships/notesMaster" Target="/ppt/notesMasters/notesMaster1.xml" Id="R9c8727cf8908407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e5855871eea472a" /><Relationship Type="http://schemas.openxmlformats.org/officeDocument/2006/relationships/notesMaster" Target="/ppt/notesMasters/notesMaster1.xml" Id="R3e6da94de00143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Scope: comparative desk review of manual and navigation-guided neurosurgical workflows. Source-backed content only; platform features come from cited official product pages and clinical comparison is separately cited.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 used throughout: Medtronic StealthStation S8 product page; Stryker Q Guidance System product page; Brainlab Spine &amp; Trauma Navigation product page; Globus ExcelsiusGPS product page; Papalia et al., Spine 2024, PMID 39049509.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Medtronic: https://www.medtronic.com/en-us/healthcare-professionals/products/surgical-navigation-imaging/surgical-navigation-systems/stealthstation-s8-navigation-platform.html. Stryker: https://www.stryker.com/us/en/spine/products/q-guidance-system.html. Brainlab: https://www.brainlab.com/surgery-products/overview-spinal-trauma-products/spinal-navigation/. Globus: https://www.globusmedical.com/musculoskeletal-solutions/excelsiustechnology/excelsiusgps/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Stryker image: https://media-assets.stryker.com/is/image/stryker/Q-guidance-cranial-components?$max_width_1440$. Stryker source: https://www.stryker.com/us/en/spine/products/q-guidance-system.html. Medtronic, Brainlab, and Globus sources: URLs listed in slide 3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Analytic framework for comparison. Independent clinical comparison source: Papalia et al. Higher Accuracy and Better Clinical Outcomes in Navigated Thoraco-Lumbar Pedicle Screw Fixation Versus Conventional Techniques. Spine. 2024. PMID 39049509.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synthesized from: Medtronic StealthStation S8 page (planning, registration, optical/EM tracking, intraoperative imaging), Stryker Q Guidance page (tracking and Airo TruCT auto-registration), Brainlab Spine &amp; Trauma page (surface matching and Loop-X automatic registration), Globus ExcelsiusGPS page (planning and real-time guidance). URLs listed in slide 3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Medtronic, Stryker, Brainlab, and Globus official product pages. URLs listed in slide 3 notes. This is a workflow-focused comparison; availability and indications vary by market and configuration.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image: https://www.globusmedical.com/wp-content/themes/globus/images/posters/EGPS/EGPS-navinstruments.webp. Instrument categories are a representative taxonomy synthesized from official Medtronic, Stryker, Brainlab, and Globus descriptions; exact instrument compatibility must be confirmed in the applicable product documentation.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Representative conventional surgical instrument taxonomy for internal workflow analysis. This slide makes no platform-specific compatibility claim. For navigated instrument examples, see cited official platform sources in the slide 8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image: https://www.globusmedical.com/wp-content/themes/globus/images/posters/EGPS/EGPS-preplanning.webp. Medtronic states that if navigation seems inaccurate and recommended restoration steps are unsuccessful, users should abort navigation; Medtronic also describes brain-shift monitoring/compensation through SonoNav. Sources: StealthStation S8 page and https://www.medtronic.com/se-sv/healthcare-professionals/products/neurological/surgical-navigation-imaging/neurosurgery-imaging-surgical-navigation/systems-software-instruments.html.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descriptions draw on official product sources cited on slide 3. Evidence boundary: Papalia et al., Spine 2024, PMID 39049509, evaluates thoracolumbar pedicle screw fixation and should not be generalized to cranial, endoscopic, or all neurosurgical procedures.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Papalia G, et al. Higher Accuracy and Better Clinical Outcomes in Navigated Thoraco-Lumbar Pedicle Screw Fixation Versus Conventional Techniques: A Systematic Review and Meta-Analysis. Spine. 2024;49(19):1370-1380. PMID: 39049509. https://pubmed.ncbi.nlm.nih.gov/39049509/. The meta-analysis reports 96.2% clinically acceptable screws in the navigated group and 94.2% in the traditional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assets: Globus header image https://www.globusmedical.com/wp-content/themes/globus/images/posters/EGPS/EGPS-header-intro.webp; Stryker FP8000 camera https://media-assets.stryker.com/is/image/stryker/front_20200414-1?$max_width_1440$; Globus real-time visualization https://www.globusmedical.com/wp-content/themes/globus/images/posters/EGPS/EGPS-realtimevis.webp. Official product pages: Globus https://www.globusmedical.com/musculoskeletal-solutions/excelsiustechnology/excelsiusgps/ (includes virtual demo); Stryker https://www.stryker.com/us/en/spine/products/q-guidance-system.html; Medtronic https://www.medtronic.com/en-us/healthcare-professionals/products/surgical-navigation-imaging/surgical-navigation-systems/stealthstation-s8-navigation-platform.html.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Synthesis based on sources listed in the deck. No platform recommendation is made.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Full source list as displayed. Media credits: speaker notes on slides 4, 8, 10, and 13 include direct asset URLs.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d83dc1f2464e2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db19d7ed6647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734039fb544c8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b12d7ec4084e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0edfd2ea2249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02ab296c4f42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3788B7-30A9-475C-A5D1-3C04849557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FE94B5E-1DAC-4B9A-A193-AE2E566886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D0C17A0-5EA9-4D68-B367-299140D03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646DF12-78C7-411C-8783-17A21D2FB9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FB5FDE8-D864-4DF3-A5B5-6815BC52AC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593A08-2B8B-4EE7-9384-D9B9510064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2CE851-8CC8-4E63-B33F-EEB905C19C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85F9848-0EA6-4105-A51C-513E9888115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FAC079-0EBA-403F-9098-C59B093821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40EF2E-0396-409B-91A6-C382495329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3ea553fb6d648a7" /><Relationship Type="http://schemas.openxmlformats.org/officeDocument/2006/relationships/slideLayout" Target="/ppt/slideLayouts/slideLayout1.xml" Id="Rbb5ecbba999c4ad6" /><Relationship Type="http://schemas.openxmlformats.org/officeDocument/2006/relationships/slideLayout" Target="/ppt/slideLayouts/slideLayout2.xml" Id="Re2d3ca9ee8f64d8c" /><Relationship Type="http://schemas.openxmlformats.org/officeDocument/2006/relationships/slideLayout" Target="/ppt/slideLayouts/slideLayout3.xml" Id="R64004a0759ac49c7" /><Relationship Type="http://schemas.openxmlformats.org/officeDocument/2006/relationships/slideLayout" Target="/ppt/slideLayouts/slideLayout4.xml" Id="R72ee645166874c98" /><Relationship Type="http://schemas.openxmlformats.org/officeDocument/2006/relationships/slideLayout" Target="/ppt/slideLayouts/slideLayout5.xml" Id="R9fd22c8b01cc4e70" /><Relationship Type="http://schemas.openxmlformats.org/officeDocument/2006/relationships/slideLayout" Target="/ppt/slideLayouts/slideLayout6.xml" Id="R62dd8b6a823e4b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b5ecbba999c4ad6"/>
    <p:sldLayoutId xmlns:r="http://schemas.openxmlformats.org/officeDocument/2006/relationships" id="2147483650" r:id="Re2d3ca9ee8f64d8c"/>
    <p:sldLayoutId xmlns:r="http://schemas.openxmlformats.org/officeDocument/2006/relationships" id="2147483651" r:id="R64004a0759ac49c7"/>
    <p:sldLayoutId xmlns:r="http://schemas.openxmlformats.org/officeDocument/2006/relationships" id="2147483652" r:id="R72ee645166874c98"/>
    <p:sldLayoutId xmlns:r="http://schemas.openxmlformats.org/officeDocument/2006/relationships" id="2147483653" r:id="R9fd22c8b01cc4e70"/>
    <p:sldLayoutId xmlns:r="http://schemas.openxmlformats.org/officeDocument/2006/relationships" id="2147483654" r:id="R62dd8b6a823e4b2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478759f2f54c93" /><Relationship Type="http://schemas.openxmlformats.org/officeDocument/2006/relationships/notesSlide" Target="/ppt/notesSlides/notesSlide1.xml" Id="Rb2253981cc2149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e791fccf8b4811" /><Relationship Type="http://schemas.openxmlformats.org/officeDocument/2006/relationships/notesSlide" Target="/ppt/notesSlides/notesSlide2.xml" Id="R4c187fc35f184d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4434b6600b479c" /><Relationship Type="http://schemas.openxmlformats.org/officeDocument/2006/relationships/notesSlide" Target="/ppt/notesSlides/notesSlide3.xml" Id="R3364327dd2674c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00cd4989a34dd0" /><Relationship Type="http://schemas.openxmlformats.org/officeDocument/2006/relationships/image" Target="/ppt/media/image.bin" Id="Rea9adbb86a8149ba" /><Relationship Type="http://schemas.openxmlformats.org/officeDocument/2006/relationships/notesSlide" Target="/ppt/notesSlides/notesSlide4.xml" Id="Ra34e1839325a44b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af18f17f594780" /><Relationship Type="http://schemas.openxmlformats.org/officeDocument/2006/relationships/notesSlide" Target="/ppt/notesSlides/notesSlide5.xml" Id="R972f9d27dd5542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598cf09f3d4ec3" /><Relationship Type="http://schemas.openxmlformats.org/officeDocument/2006/relationships/notesSlide" Target="/ppt/notesSlides/notesSlide6.xml" Id="R7b7660a23b5f49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f3ac0b2758409f" /><Relationship Type="http://schemas.openxmlformats.org/officeDocument/2006/relationships/notesSlide" Target="/ppt/notesSlides/notesSlide7.xml" Id="R5ca526bf19904a6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376ebe33f14b32" /><Relationship Type="http://schemas.openxmlformats.org/officeDocument/2006/relationships/image" Target="/ppt/media/image2.bin" Id="R8a82fbd98c70465e" /><Relationship Type="http://schemas.openxmlformats.org/officeDocument/2006/relationships/notesSlide" Target="/ppt/notesSlides/notesSlide8.xml" Id="Rb83efd6e72e84d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54adce87274302" /><Relationship Type="http://schemas.openxmlformats.org/officeDocument/2006/relationships/notesSlide" Target="/ppt/notesSlides/notesSlide9.xml" Id="R4e161ec077854cc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e72535350d4aeb" /><Relationship Type="http://schemas.openxmlformats.org/officeDocument/2006/relationships/image" Target="/ppt/media/image3.bin" Id="R240eb1431ba04002" /><Relationship Type="http://schemas.openxmlformats.org/officeDocument/2006/relationships/notesSlide" Target="/ppt/notesSlides/notesSlide10.xml" Id="R62ff62a0c4724ff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50204246af4a47" /><Relationship Type="http://schemas.openxmlformats.org/officeDocument/2006/relationships/notesSlide" Target="/ppt/notesSlides/notesSlide11.xml" Id="Rea707e97a4244b8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28ca00a9de48fa" /><Relationship Type="http://schemas.openxmlformats.org/officeDocument/2006/relationships/notesSlide" Target="/ppt/notesSlides/notesSlide12.xml" Id="R6dab512e87184f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fa4eac73ad4feb" /><Relationship Type="http://schemas.openxmlformats.org/officeDocument/2006/relationships/image" Target="/ppt/media/image4.bin" Id="R0b5db78f323f4e58" /><Relationship Type="http://schemas.openxmlformats.org/officeDocument/2006/relationships/image" Target="/ppt/media/image5.bin" Id="R0dc263431fb54f6f" /><Relationship Type="http://schemas.openxmlformats.org/officeDocument/2006/relationships/image" Target="/ppt/media/image6.bin" Id="Ra76b5450d81d40dd" /><Relationship Type="http://schemas.openxmlformats.org/officeDocument/2006/relationships/notesSlide" Target="/ppt/notesSlides/notesSlide13.xml" Id="Rb6b8958b60d0404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b0bf1ec12f424a" /><Relationship Type="http://schemas.openxmlformats.org/officeDocument/2006/relationships/notesSlide" Target="/ppt/notesSlides/notesSlide14.xml" Id="R8457970900944dd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780015133b41b6" /><Relationship Type="http://schemas.openxmlformats.org/officeDocument/2006/relationships/notesSlide" Target="/ppt/notesSlides/notesSlide15.xml" Id="R5eaeda32ce34455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5E842-5BBA-439D-90D3-9672BB12C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66750"/>
            <a:ext cx="66675" cy="438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6AE7A-B069-4B36-89E8-056A15B5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8763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74D2D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74D2D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74D2D1"/>
                </a:solidFill>
                <a:latin typeface="Helvetica Neue"/>
                <a:ea typeface="Helvetica Neue"/>
                <a:cs typeface="Helvetica Neue"/>
              </a:rPr>
              <a:t>Project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3FEBE2-FC94-402E-BEEE-EDB50B73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1409700"/>
            <a:ext cx="7858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Manual vs. Navigation-Guided</a:t>
            </a:r>
          </a:p>
          <a:p xmlns:a="http://schemas.openxmlformats.org/drawingml/2006/main">
            <a:pPr>
              <a:def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Neurosurgical Procedures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E15F6B-7E92-45A8-8ADF-D4B43120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105150"/>
            <a:ext cx="714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C9D9E4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C9D9E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C9D9E4"/>
                </a:solidFill>
                <a:latin typeface="Helvetica Neue"/>
                <a:ea typeface="Helvetica Neue"/>
                <a:cs typeface="Helvetica Neue"/>
              </a:rPr>
              <a:t>Platform capabilities, clinical workflow, instrument taxonomy, and evidence boundaries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895D92-2D3F-48B1-B538-C3A31B2E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381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rPr>
              <a:t>Internal review | One-month desk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AF500F-6242-438D-ADAC-B128BF2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5911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A9BEC9"/>
                </a:solidFill>
                <a:latin typeface="Helvetica Neue"/>
                <a:ea typeface="Helvetica Neue"/>
                <a:cs typeface="Helvetica Neue"/>
              </a:rPr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9875557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68A77F-7F83-4313-A952-35E96EE5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Review scope and evidence boundaries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600FA-DF7C-44D7-8E3C-4A3308FDC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The deck separates official vendor capabilities from independent clinical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B73D57-6591-4D6D-82FD-1AD2D688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21FB2-EEAD-42D8-A4D3-7E0BC01B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Questions addressed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7B2158-234C-4C83-A447-12A1B6218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EDCEB6-FC5A-426E-93BE-ECC973CA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6217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Which neurosurgical and spine procedures do the reviewed systems support?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1FF030-02E3-435E-BCAA-A46280FA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575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3F91A-C9D7-4AFB-852C-341ED7A54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4322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What changes in the navigation-guided workflow from registration through verification?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E9CC2B-4960-4E5E-8DB2-BCEA01D8E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385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2EFB9D-E503-4CC8-AE50-473729F7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2427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Which instruments are tracked versus conventional, and what purpose does each serve?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EA034-71A4-4AB6-AE2D-355EC6E2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96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5C1159-2A83-460A-BB95-9160D9EB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05325"/>
            <a:ext cx="466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Where does the evidence support accuracy or operational conclusions?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1EBE3C-EDA4-4013-B1C1-EAAAA203F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1771650"/>
            <a:ext cx="4857750" cy="3609975"/>
          </a:xfrm>
          <a:prstGeom xmlns:a="http://schemas.openxmlformats.org/drawingml/2006/main" prst="roundRect">
            <a:avLst>
              <a:gd name="adj" fmla="val 2111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FB3443-69D8-4FA7-B54D-FD3E78EE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1240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Evidence rules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DBDC9-4637-42D0-8B59-0892DEC3B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47950"/>
            <a:ext cx="390525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• Platform support and workflow features cite official product pages.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• Vendor claims do not establish comparative clinical superiority.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• The quantitative accuracy slide cites an independent meta-analysis and applies only to thoracolumbar pedicle screw placement.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• Instrument lists describe representative core instruments. Actual availability depends on the procedure, hospital, and system configuration.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6879AF-D3F3-4B90-B060-7BE4F807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FFD3F1-D5B6-4212-90C8-5551AA88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3719040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139C904-7C77-4964-B275-6FF1C14B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Systems reviewed and documented procedure coverage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501288-35CA-455E-B5FF-78A65C1B5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Coverage reflects the cited official product pages and should be read as device-supported use, not clinical recommendations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8C2F4-3DE8-45D1-976E-9D26BF77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C3D4C5-EEB5-464A-893A-32043EF7D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21240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6BBD75-6EC8-4624-9502-BA86BD44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1933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System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F5880-B9A3-44D6-8F05-5B4E4925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1657350"/>
            <a:ext cx="21240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6EF86-F196-405A-B325-E8BB02FD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1733550"/>
            <a:ext cx="1933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Cranial procedures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03D464-8C95-4491-9316-75ED6D6E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657350"/>
            <a:ext cx="21240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24BC3D-2500-4B94-B419-CEC38014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33550"/>
            <a:ext cx="1933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Spine procedures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29681-1413-4B7E-B053-913C3D2E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657350"/>
            <a:ext cx="21240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9A7F4-65E8-4666-8BDE-F1E066E1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733550"/>
            <a:ext cx="1933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Tracking or registration highlights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8D08B9-AB77-455F-B4EE-3516D393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57350"/>
            <a:ext cx="21240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A0A839-AF6C-445C-9297-21990AE03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733550"/>
            <a:ext cx="19335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Primary cited source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49E703-2DD6-41D9-AAC1-48DBF591F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7612D2-8278-4219-8363-F3153B6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288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Medtronic</a:t>
            </a:r>
          </a:p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StealthStation S8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BE6F8-8071-4A17-A5F4-8B56E15F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1526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9453EE-26D6-4EE8-BF0D-212516A2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22288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Tumor resection; biopsy; ventricular catheter placement; DBS lead placement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C4BE2-BBFA-49D7-B774-1161BBDA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526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7D61B8-A25D-46CD-BC3C-2666E4C59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2288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Pedicle, iliosacral, and interbody device placement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51D31C-968E-413C-A52E-D90067276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1526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47156-58FE-4D2B-8718-25426CA2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2288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Optical and EM tracking; O-arm auto-registration; iMRI/iCT/C-arm integration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B2F1A6-0F5E-4280-8930-0CE29D6E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526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0EFCE2-7D9B-4C63-9956-835BF968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2288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Medtronic S8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E13DEA-7087-446D-9EE0-6975698C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670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C35E56-FD1F-4B5E-9F38-63ABDE3F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Stryker</a:t>
            </a:r>
          </a:p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Q Guidance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BFE506-4724-4F9D-8C51-AC1E2354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0670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474D3-AED5-4458-9347-7E87DA36E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31432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Cranial Guidance Software; EM navigated catheter placement; biopsy targeting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4E906F-2AB7-4270-B370-8DB937F2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670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FD4435-DADC-4367-891C-652F0407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432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Spine Guidance Software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919916-2C9F-4418-9B7E-C46C2F26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0670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F7B8798-6B9B-44FE-B8E5-EB109937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1432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Active/passive hybrid optical tracking; optional EM components; Airo TruCT auto-registration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7D90FB-17B8-4DB8-86C8-33474B01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670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7BF8F9-7FA6-46E3-B129-3FC6411A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432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Stryker Q Guidance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646508-F4BD-4B38-A05B-E8DE3C7A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3F49156-7207-4888-ABF8-61D8991D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Brainlab</a:t>
            </a:r>
          </a:p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Spine &amp; Trauma Navigation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24C1FD7-F892-416C-8F58-04CDD2839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9814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784191-0EEF-4030-B912-625225CB6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0576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Not the focus of the cited spine source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2C0D05-D2A2-47E9-9713-0C9ED7CE5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814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5B8F0DC-0351-4777-822A-95AEB33E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0576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Pedicle, lateral mass, sacroiliac screws; cages; rod visualization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F689B6-240E-4F69-BE0F-578F0893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814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441933-215B-4291-AC69-3E7098C8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0576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Surface matching; Loop-X automatic registration; CT/MR and intraoperative imaging workflows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302AD0-7D1F-4EF9-BB36-FF33E8E0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9814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852A3D-2CF3-484D-9C5F-B4F988C8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0576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Brainlab Spine &amp; Trauma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9D7C4C9-8DEF-4C07-B3FE-AFB3E586D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0C40EE-DCF6-4F7F-83B9-F2F95F4E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720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Globus</a:t>
            </a:r>
          </a:p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ExcelsiusGPS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8DCB31-3795-4C01-876A-11386742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48958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AEBF9B-3D58-4AA4-BC5B-FD07E989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9720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Cranial stereotactic procedures, including biopsy and DBS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41C68B2-2BD4-427A-9F0D-06E1A674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8958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191CF4-5D54-4DE9-A2A2-F140EFA2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9720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TLIF, LLIF, SI fixation and other spine applications shown on the product page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81029F-E7E2-49EC-B3CE-A2C3E4F3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8958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0436184-2E4B-4F3A-A489-56531AD5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9720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Robotic navigation platform; planning, tracking, and imaging compatibility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5B7742C-844A-42EA-95B4-682723F4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95850"/>
            <a:ext cx="21240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181976-2A25-4FE0-967A-1D98C9506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72050"/>
            <a:ext cx="19335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Globus ExcelsiusGPS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0E07A65-DDC6-4DEC-85D2-1B220193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Sources: Medtronic S8; Stryker Q Guidance; Brainlab Spine &amp; Trauma Navigation; Globus ExcelsiusGPS official pages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BB3A259-3217-4EE8-918E-6B96047B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E2241E-C7F3-448E-8C08-D6AE6DF02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0408296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9A8E83-7B9C-4303-A3F3-907CF156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Platform-specific workflow differences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A208D-82E0-4BEC-9B4C-65A358D6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Official product pages describe different combinations of tracking, registration, imaging, and robotic guidance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27CA1-001C-42A1-9E6F-412C8BDE2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460CDF-5006-4291-B96E-2501670E1B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adbb86a8149ba"/>
          <a:stretch xmlns:a="http://schemas.openxmlformats.org/drawingml/2006/main"/>
        </p:blipFill>
        <p:spPr>
          <a:xfrm xmlns:a="http://schemas.openxmlformats.org/drawingml/2006/main">
            <a:off x="775242" y="1762125"/>
            <a:ext cx="3345366" cy="3238500"/>
          </a:xfrm>
          <a:prstGeom xmlns:a="http://schemas.openxmlformats.org/drawingml/2006/main" prst="roundRect">
            <a:avLst>
              <a:gd name="adj" fmla="val 352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A58C5D-3812-462D-A8F9-41B7D471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3638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Stryker Q Guidance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21A11-D724-4DC9-A88B-E1A448B1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5307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Hybrid active/passive optical tracking, optional EM components for cranial use, and Airo TruCT auto-registration.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391CC-6A3B-4B71-94FD-759DBAC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866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Medtronic StealthStation S8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E314F9-6CB3-4936-B5A8-33F9EA4B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66950"/>
            <a:ext cx="4552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Optical and EM tracking; interfaces with iMRI, iCT, C-arms, O-arm, microscopes, and endoscopes.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561520-4828-4E97-88F8-B0812C562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01942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F7452-912C-4F7B-A120-3F32699A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238500"/>
            <a:ext cx="419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Brainlab Spine &amp; Trauma Navigation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850889-361C-4B69-89A0-A644AF1D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638550"/>
            <a:ext cx="4953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Surface matching and Loop-X automatic registration workflows; cited page emphasizes imaging, planning, and navigation integration for spine and trauma.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620826-D7A1-497C-9FAD-1AAECBDE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457700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2564CC-6128-4403-8C53-966B8FAA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667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Globus ExcelsiusGPS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E14C90-471A-485B-A3B2-0E736739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0673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Robotic navigation platform with a rigid arm, tracking camera, planning, and imaging compatibility across spine and cranial applications.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6FF87-B8EF-471D-AF90-3357674F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Official image: Stryker Q Guidance System | Sources: official product pages cited in notes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CB72C-B0B0-4241-81DA-5AE3F302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2275C5-B1A7-49D9-9F4C-D00A46E5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869012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6DDBD9-A697-42CA-9E01-5642859D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Manual procedure baseline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64B7A-9473-4F14-8414-A8FDC4CE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Manual techniques rely on the surgeon’s anatomical knowledge, direct visualization, and the imaging available for the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8BF553-172E-4565-8EE1-AC52483DC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1C95F5-4B52-4D81-AA0B-E1CC39D6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159E4-EC87-4233-ACAD-77D8E7684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716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Planning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C5E73-69B7-44DC-A437-85BD4CF4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09550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Review preoperative CT/MR and determine landmarks, target, entry point, and intended trajectory.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BBF0B7-19DA-4BE1-B754-7895162C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28900"/>
            <a:ext cx="900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52C0B-5F3C-406D-ACD4-B800C3787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622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378E92-E47A-44D9-A00E-3B9D96C4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77177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Localization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3C16E5-D806-4B4B-A76D-70257C0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9562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Use exposed anatomy, surface landmarks, direct visualization, and procedure-specific imaging such as fluoroscopy when used.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1EBF9-C136-4EFB-9181-C7067B7B2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629025"/>
            <a:ext cx="900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04D17-A7A4-4385-8C2E-7B55FCAB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B79549-22A7-4830-B978-C535D2EA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7719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Instrumentation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26EF6-6DBB-478A-9983-FB7255422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095750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Advance conventional instruments without real-time navigation display of instrument position relative to the image dataset.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979C2C-92D7-4C28-98E1-D9BF11E49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629150"/>
            <a:ext cx="900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2F17E4-465E-4115-86D4-C4FE7D68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5B85F-949F-43BC-B4F4-FD5153264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772025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Verification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0CC4E1-EA8B-45DF-AF30-8945B1839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95875"/>
            <a:ext cx="809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Use surgeon assessment and procedure-specific confirmation such as imaging, electrophysiology, or postoperative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BE305F-D403-49C6-99BA-25738815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629275"/>
            <a:ext cx="900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93B5CC-08E2-4E2A-8AC0-9D6A1DFE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810250"/>
            <a:ext cx="866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This is an analytical baseline. Specific manual workflows vary by procedure, anatomy, surgeon training, and imaging protocol.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533D47-8B37-4519-B7BB-AB34E7E1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82CD29-26D3-472D-8B8C-3558C63A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66367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F8A6A9-73EA-4468-AC33-3D9743CB1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Navigation-guided procedure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C4E01D-7C7C-4265-ABB3-C2B436E7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Generic sequence synthesized from the cited official workflow descriptions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22F19B-9C16-479E-BB25-CC0B7CC78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E56C4-8438-482B-BC43-87AE967F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D1E9F7-D466-4616-BCBB-18A3C6DC5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050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5DB1CD-C85F-4874-9969-A1C7E6541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2085975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Acquire and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import imaging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CC781B-ED14-4572-8DBE-FF0201EC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952625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FC949-F722-495A-B4F3-C8ABCC96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050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ED9B29-11ED-49D2-B246-6FEEEE88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085975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Define target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and trajectory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29C0FA-76F7-4579-A972-F02E0DE44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52625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D24E-3583-4C76-84E0-F9FF54AC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050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43B72-85F5-4666-B406-A1410C2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085975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Position patient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and attach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reference array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D4BA07-DB99-43A2-8D60-66C915FA6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952625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51B78-4E1B-499A-A8DF-52E42188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105025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1E0E6D-28C8-476C-A129-8248B44E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085975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Register image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to patient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anatomy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275A17-7825-4CB5-B18E-6FE22867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87D3E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89626D-EC74-428D-B6CD-A51F121EB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57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B9923-640D-4BF6-A8BB-7ACD0A5B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40386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Verify registration</a:t>
            </a:r>
          </a:p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accuracy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A50089-2703-44AE-9569-2616DEB70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3E2026-847D-401F-B824-DEB83529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057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F9AE15-152A-4F26-B544-108A6F17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0386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Calibrate or connect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tracked instrument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94C87C-7A2D-4F36-90AA-16248C4E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05250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44530D-3A5D-445A-B1FD-16C951A8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A1F443-EB29-44DE-AA57-887FD5D9C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386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Navigate, re-check,</a:t>
            </a:r>
          </a:p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and update if needed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356DA5-0BA6-4770-85E7-8C61D5167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905250"/>
            <a:ext cx="217170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7B3D3B-F4E8-4378-9492-2D186317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57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CC1F1C-1114-425F-9040-725E67ED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4038600"/>
            <a:ext cx="1428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Complete procedure</a:t>
            </a:r>
          </a:p>
          <a:p xmlns:a="http://schemas.openxmlformats.org/drawingml/2006/main">
            <a:pPr>
              <a:def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and verify result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8FF266-9884-4796-A8D5-1BD3DAFE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1935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F3B572-CAF5-428C-A5F1-AADE911C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1935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A721D4-7A04-48C1-8D58-C8BD6266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1935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A89E90-324C-4409-A44C-E2A17F5B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71975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B8BDCF-16BF-4AF6-8781-6B171174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71975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97FC9C-6F6D-4AE8-9CF4-CE3323608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71975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DFD4EC-9499-408E-9ACA-81422614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38475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F771C-F731-4119-84C0-FA131C3A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38475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C997EE-3920-47C9-8C28-3C6DF0D9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7150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Registration verification and reference-array stability are control points before navigation proceeds.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D0C73FF-D357-4CB6-8CEC-8E9438EF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1089785-9473-471E-A94B-F7B26A2A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5144901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26CD3F-5792-46F5-81A4-994658C6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Registration and tracking modes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8152DF-D6CE-46D8-989D-8D66EE88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Workflow implications depend on the image-to-patient registration method and tracking technology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D3FD1-029B-48BF-A4D5-71AE6491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7F013-F39B-4CBD-B08B-BBD7DA0D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17049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B9149B-DA05-43F1-B045-69475EB6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5144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BBD8E-AC3D-44F0-B3D8-74E70374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1676400"/>
            <a:ext cx="24479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D9A73-03AD-4C19-A9C8-AC9212BA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752600"/>
            <a:ext cx="22574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Tracking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A97D2-E362-4286-B23D-3B3A08CF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76400"/>
            <a:ext cx="292417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28D698-1421-46DA-A54C-C3259695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1752600"/>
            <a:ext cx="27336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Registration or imaging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A4A0A-26CB-4831-8E9E-5CF3A1B85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1676400"/>
            <a:ext cx="3857625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BCA0FB-134A-4018-86A8-0F4F9E73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752600"/>
            <a:ext cx="36671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Workflow consideration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234A49-5749-4DBE-9262-B1FC3592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05025"/>
            <a:ext cx="17049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94B368-8748-42F9-B05F-707E1883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1514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Medtronic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CCCEB-31F2-45DF-B9EF-5528BCFF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105025"/>
            <a:ext cx="24479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D0ADCE-11B0-40CC-A69A-4066FC52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81225"/>
            <a:ext cx="2257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Optical and electromagnetic tracking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660A01-7C03-443B-9EEE-D0A48A8A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05025"/>
            <a:ext cx="29241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271DFC-F9A2-45CF-986E-6654DBF81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81225"/>
            <a:ext cx="27336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O-arm automatic registration; integration with iMRI, iCT, and C-arm imaging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B2BE64-FC63-4188-BB69-CB012704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105025"/>
            <a:ext cx="385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61EC8B-A411-46CD-8C37-E34A762E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181225"/>
            <a:ext cx="3667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Maintain registration accuracy; optical line of sight and EM setup matter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4CE81-C946-4B2B-8897-3D05ADC2F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00375"/>
            <a:ext cx="17049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13391-AC5A-45DF-8A0C-5D47F6CB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76575"/>
            <a:ext cx="1514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Stryker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722F9B-8D64-4D6D-A28A-1FCB00BB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00375"/>
            <a:ext cx="24479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36923-9EF3-4B22-AFD4-16C1B1C5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76575"/>
            <a:ext cx="2257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Active/passive hybrid optical tracking; optional EM cranial components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237C4-B560-4162-9BB4-8A8294B76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0375"/>
            <a:ext cx="29241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85AE56-C10C-48C0-B048-932BBBED4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076575"/>
            <a:ext cx="27336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Airo TruCT integration and auto-registration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9EF74B-7B7C-4E69-8D2A-4E91921E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000375"/>
            <a:ext cx="385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1FF7D-A2B1-4D89-A7CA-611F9F6D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076575"/>
            <a:ext cx="3667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Camera, reference markers, and EM components depend on configuration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F338EC-F3FB-4899-9796-5F4747A58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95725"/>
            <a:ext cx="17049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72A7D0-1F1C-4060-85B9-50AEFDB34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71925"/>
            <a:ext cx="1514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Brainlab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3E019D-ABA4-4146-9842-02BF8814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95725"/>
            <a:ext cx="24479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79FB08-1A86-468F-8669-E2613F3E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971925"/>
            <a:ext cx="2257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Optical navigation and surface matching workflows in cited source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FA699E-AB6C-4CBC-86B8-1FF3FAD9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95725"/>
            <a:ext cx="29241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2585B-8260-44EF-BB61-31001271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71925"/>
            <a:ext cx="27336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Surface matching; Loop-X automatic registration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F36924-400D-481A-8EFC-8E088A14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895725"/>
            <a:ext cx="385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55F7C9-5CB2-4DCA-913B-DF907A02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971925"/>
            <a:ext cx="3667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Registration method can change setup steps and imaging exposure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1BCB7E-6283-4CCA-AD97-C1028D685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91075"/>
            <a:ext cx="17049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7A2125-E67A-49D9-AE0B-08F148B9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67275"/>
            <a:ext cx="15144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Globus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0C341C-34BC-4464-A3C1-01464211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791075"/>
            <a:ext cx="24479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F047C7-D9EE-4A10-9580-E5736C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867275"/>
            <a:ext cx="22574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Tracking camera and robotic navigation components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5CDA42-9C5A-46C6-BBF5-AB27A741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91075"/>
            <a:ext cx="29241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A1DFBB-52FD-4315-9D47-EFEA48D8E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867275"/>
            <a:ext cx="27336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Imaging compatibility and procedure-specific platform workflows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E784922-DC07-4C11-8AA7-B8F5318E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4791075"/>
            <a:ext cx="385762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E0FAC1-03BF-41BC-97A3-105B10FB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867275"/>
            <a:ext cx="3667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Robotic arm positioning adds a device-setup and verification layer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3C39E6B-D45E-48D7-B9EB-A6E4D8AB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Sources: official Medtronic, Stryker, Brainlab, and Globus product pages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48A5B93-D156-4334-8AC2-15518234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60BDED6-D3D5-4125-975C-4885E1241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4763426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F0E3C4-4711-49F5-8114-36BD58B3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Navigated instruments and components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EF926-50B6-4671-B430-75459E410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Tracked instruments and reference components provide position information relative to registered anatomy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3C7E6-538C-4E9B-A6E9-00C908DB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ECDBE0-F2B9-4915-8175-B81F76A7A5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82fbd98c70465e"/>
          <a:srcRect xmlns:a="http://schemas.openxmlformats.org/drawingml/2006/main" l="11429" t="0" r="1142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81825" y="1762125"/>
            <a:ext cx="4572000" cy="3333750"/>
          </a:xfrm>
          <a:prstGeom xmlns:a="http://schemas.openxmlformats.org/drawingml/2006/main" prst="roundRect">
            <a:avLst>
              <a:gd name="adj" fmla="val 342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914FB-FA7B-45B6-B398-84F79A8E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33550"/>
            <a:ext cx="3571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Reference array or frame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9A6014-295C-488E-9A4A-92018DA3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097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Defines the tracked patient reference coordinate system.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507983-8E2D-4E86-8705-B55534B6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5745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CC5807-E78A-4410-BE3A-C57E7E1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3571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Navigation probe or pointer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FD5E16-0512-4F96-A56C-76AE2028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908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Localizes anatomic points and checks registration.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A71133-8F43-44D6-87A5-8397E3645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BB1FD0-A5AF-4972-8856-46056EAC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95650"/>
            <a:ext cx="3571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Tracked biopsy needle or guide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4F00C1-5EB2-416F-9574-ED6B6D12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718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Displays planned cranial target and trajectory during sampling.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596EA-18BC-4635-AD6B-A101B6001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7434EF-9722-4E8C-A618-BB2573B9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76700"/>
            <a:ext cx="3571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Tracked drill, driver, or awl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0092CA-9474-48C8-A55E-9E0D3F9C5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529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Guides bone work or implant trajectory in supported spine workflows.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C5727A-BB77-4670-8D66-A1E45BAE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0060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E4DE8-5AAC-4029-833A-B6C64082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57750"/>
            <a:ext cx="35718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Instrument adapter or calibration tool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673BF-5A3B-45C4-A022-DBFB1760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3397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Associates a compatible instrument with the tracking system.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9E30D6-B633-40D1-97AF-67B141397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8165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BECE5B-A00E-46E9-B9DE-BB5DC87C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2768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Procedure and platform dependence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EAC2A4-C2E6-4E02-8F09-EFEEBBD2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5572125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Specific compatible instruments differ by software application, adapter, and approved indication.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D20FFA-C238-431A-BC20-A510505C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Official image: Globus Medical ExcelsiusGPS product page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A2B661-D45E-4149-BF13-91DB4E0D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FAEA4A-F3E8-40BC-A52E-34B4DD3CD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430046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AC6137B-E7B8-4E68-9FB6-C875BC71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Conventional instruments used alongside navigation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08128-5C2F-46F0-BD30-1685CC3D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Navigation adds tracking and planning tools; it does not replace the core operative instrument set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386C05-F0AA-4DA0-B936-F514878B4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033DA-392A-4766-853A-1998FF9F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20574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970D1-B772-4C2B-82A2-54A99113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Category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67862C-C142-4071-9264-94E03B33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714500"/>
            <a:ext cx="34766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5B7A2-0E24-4DA8-BCA9-12E79B9C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9070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Representative conventional instruments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339649-2561-4688-A799-175933B1F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14500"/>
            <a:ext cx="4381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E3905A-9413-4D39-9329-97342AE0A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7907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Primary purpose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44E1F-118A-4058-B4BA-24453D42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205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7AE292-3A01-4968-B904-C9132BF65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288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Exposure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12EC53-0ED3-4EC9-97DD-8CB9B615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152650"/>
            <a:ext cx="3476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91524-4F4B-4B6E-A8D3-7109CE1D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28850"/>
            <a:ext cx="328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Scalpel, scissors, forceps, retractors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28169-BED6-48B5-B28A-AB04E109B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1526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1E27D-2C72-4DF3-8A9F-278D94A0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288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Access tissue and maintain the surgical corridor.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EF1B00-1D48-4CF5-BD97-C4A19BCE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76550"/>
            <a:ext cx="205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8EF937-6F41-44C6-9F9E-3D0A5ED8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Hemostasis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488B3F-E479-464F-AE89-C07D0BE4D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76550"/>
            <a:ext cx="3476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FB8213-030D-4258-A4B1-16E94F382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952750"/>
            <a:ext cx="328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Bipolar forceps, suction, hemostatic tools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18C7F0-F9D3-464C-92D8-AFB80620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8765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667DD7-F059-49B4-B843-F2BA5D1DE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9527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Control bleeding and maintain visualization.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EDF6F-CF5B-46DD-AED0-8A5CB378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00450"/>
            <a:ext cx="205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A1C80A-CAD5-4805-9251-8FC0F12F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Bone work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631DC4-5322-401C-80FC-D71383105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600450"/>
            <a:ext cx="3476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008E6C-62B6-4856-8164-93EA6530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76650"/>
            <a:ext cx="328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High-speed drill, rongeur, Kerrison, curette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698D2E-64F8-4DCA-870F-02C631F9F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6004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B1685A-0D65-4EA8-8A1B-56330345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766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Remove or shape bone according to the procedure.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7E966B2-A002-4111-A64C-FDB190AA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205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11BD26-D864-491E-937A-09783465D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Soft-tissue work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B1E720-C848-4FFF-AAB2-E651CECE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24350"/>
            <a:ext cx="3476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292B1A-96D6-4D2B-AEA5-E2FCFC93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400550"/>
            <a:ext cx="328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Dissectors, elevators, hooks, graspers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3F2704-E9B2-4059-9887-047640C16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3243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4C96B6-120F-44F5-B179-2E125E50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4005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Mobilize tissue and protect relevant anatomy.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E784CA-F7BF-4B24-83F6-F421A077C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048250"/>
            <a:ext cx="20574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00B0F0-8322-4229-AE0E-124EE9CB4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1866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Closure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162D3-24AB-46D5-A5B8-4E4E89FE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48250"/>
            <a:ext cx="3476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256A208-DBF5-453C-B982-BD0DAAAF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124450"/>
            <a:ext cx="3286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Needle holder, forceps, suture instruments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DE52A48-F1BF-4DAB-B490-C64BA639F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5048250"/>
            <a:ext cx="4381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AE90CF-D9C8-40EC-8830-80E328EA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24450"/>
            <a:ext cx="419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Close tissue layers at procedure completion.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C87F87-5632-4AB1-B630-2039C5AE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2455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The list is representative rather than exhaustive. Choice of instrument depends on the procedure, anatomy, surgeon preference, and hospital protocol.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8D3271-D597-4AA7-B419-4BAB01742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CFE02E-57D6-4690-B3E3-90D8AEB0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3009319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59AE4B-5552-43B8-810E-3048E12D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Navigation control points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FEF0DF-7AD5-4CFE-BA1D-F705E4A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Navigation reliability depends on image quality, registration, reference stability, tracking conditions, and intraoperative anatomy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B2B174-4999-4484-A4A1-A78FFCCA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9C447A-5451-4CD8-AA91-52B492E5102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0eb1431ba04002"/>
          <a:srcRect xmlns:a="http://schemas.openxmlformats.org/drawingml/2006/main" l="15723" t="0" r="1572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" y="1809750"/>
            <a:ext cx="3714750" cy="3048000"/>
          </a:xfrm>
          <a:prstGeom xmlns:a="http://schemas.openxmlformats.org/drawingml/2006/main" prst="roundRect">
            <a:avLst>
              <a:gd name="adj" fmla="val 375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270E7C-5D4F-4759-8B0C-CC2D9F52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097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2F9892-FDE6-4D32-BE88-26C438710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621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Image and plan quality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8A9AF-E7BD-43DD-A329-7A4DBBB6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0383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Navigation can only display the image data and plan loaded into the 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C302B-E6EB-4E1E-8062-7C29F877B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098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7D3E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C6C09A-1E5B-44DD-97ED-3B33BDF1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622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Registration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5C01C5-B4B9-4B06-8251-81AFFD0C4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384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The team should verify registration before navigating instruments.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050402-C5D6-4457-84C6-95548A15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F9E462-BF18-4370-9B3F-7B5DC4650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3623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Reference movement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D35936-CE68-4B57-A60E-6CD08DA6E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6385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Movement of a patient reference can invalidate the image-to-patient relationship.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5CEE8-7796-4E1A-917F-37C57481E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100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81B8B9-0998-473C-B162-A869059D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1624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Tracking conditions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A28B08-4152-480C-ADD4-15AC1067D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4386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Optical line of sight or EM setup can affect whether the instrument is tracked as intended.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A16C47-E347-4D8C-8F10-9D42C657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0101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F6A36A-3704-4CD8-BFC5-81C9EF1A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962525"/>
            <a:ext cx="428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Anatomic change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B5CEA2-A1A7-471A-8E9E-2B6C754E5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5238750"/>
            <a:ext cx="542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Brain shift, tissue movement, or changes after imaging can limit correspondence with preoperative images.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008D23-E83C-4F40-A935-31E30FDF7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435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Operational implication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95F5F5-3989-4F0F-960A-8E50C5E92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864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Navigation requires a deliberate verification step before and during instrument use.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102866-AE29-4FC4-B520-ACB91655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Official image: Globus Medical | Limitations: Medtronic S8 warnings and neurosurgery navigation information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DA90E-4493-4BF5-816F-12ED4142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097F42-5A85-4D53-BB5D-9EE8A28C3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624450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83812E7-E891-419C-BBCC-5D6B5917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Manual versus navigation-guided procedures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90A24-3B5B-4086-A5A3-4B246607A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The comparison describes workflow differences; outcome comparisons depend on procedure type and evidence quality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8D463E-7DC6-4FF3-B2F9-E44196B3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08867A-52A6-4248-BDFC-B4304BD1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38300"/>
            <a:ext cx="24384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31D715-025B-4A17-92B7-32FAF6E8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Dimension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FDAC3-F46F-4355-BDF6-5BE333A4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638300"/>
            <a:ext cx="4219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B1AD56-9168-47D8-B32E-EBAB33B2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14500"/>
            <a:ext cx="4029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Manual / non-navigated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FE5905-CA40-4B65-BF75-D0DDC6F8B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38300"/>
            <a:ext cx="42767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D24C22-2AE5-456A-9961-5E7078EB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14500"/>
            <a:ext cx="40862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Navigation-guided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48D6F-C1C7-49F5-8612-3B308E3C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745E6-7C8A-480B-9A44-D25DF540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71700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Anatomic localization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94BDBA-680B-41C2-A4CA-50690A49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95500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737392-A4F5-4C7D-BA08-C850E4AC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71700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Surgeon assessment, direct visualization, and available imaging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5498AD-5297-4853-9416-8196ACF4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095500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7074A-FC35-4A97-9173-1B362F95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171700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Registered imaging plus real-time position display for tracked instruments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3BEA25-4725-422D-BE29-9A4D9F90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14625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84C31F-EF78-4FC5-AE38-7FF83E60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90825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Preoperative planning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B06EDB-5285-46FA-9270-E0245F37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14625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A2BC62-B8FB-427C-9C87-8C904769C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790825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Plan may be reviewed without system-linked trajectory display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AC2A6-48D8-4BF0-8C4D-133AFA3F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14625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D7AC49-8C02-4204-8540-D7AF67AC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790825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Plan can be stored and displayed with the navigation 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31B27-3E57-4757-B92B-FEBA2AB7D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59453B-E823-496F-8DC7-79CDF78D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Intraoperative setup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584CC3-C765-42BB-86DF-A5A3AB30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33750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CC10B-41A7-4D93-949A-17F59B86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09950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No registration or tracking setup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31FDF4-64A8-44F2-9CC3-15E3CEB3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33750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A685F8-EF5C-4C74-B2C2-E95EF9F84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409950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Requires reference, registration, verification, and compatible tracking hardware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065351-D58B-4249-A68B-A204FF35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13A1D0-C288-4051-A2E8-5237BD750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29075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Instrument position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17F1A72-3EF9-48BC-A435-6CE17221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52875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C62A16-411E-4D1F-9E9E-E2EE92E8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29075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Not displayed on the image dataset in real time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FCD03F-7BBC-4D02-870E-A5DCD851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952875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5ACA68-3353-417E-8AA6-9AD4B6DAC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29075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Displayed when a compatible instrument is tracked and registration remains valid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C50A2CA-158D-47CE-9F6B-7B589D53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0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FDFAA7-5EEE-4B47-B4CD-7CD550BE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48200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Main limitations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5A19BB-7D2F-4C08-A713-9CE009489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72000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43CCBF-732D-411A-BF57-EB565D4D5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648200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Anatomy and imaging availability; workflow depends heavily on surgeon experience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A2BA9A5-26A2-49F9-9BF3-95E6BC3F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4572000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4AFC172-B71D-4B85-8BDC-6AF6E3A87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648200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Image-to-patient registration, reference stability, tracking conditions, imaging currency, and training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E5BE2F-75CC-4875-9672-C805CFD4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91125"/>
            <a:ext cx="24384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78B930-ACAE-423D-B689-7C34D1A6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67325"/>
            <a:ext cx="2247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Accuracy evidence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F7D0756-9B3B-46CE-8540-EF730463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191125"/>
            <a:ext cx="42195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7944EA-FB36-40ED-B5B9-91A60092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267325"/>
            <a:ext cx="402907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Comparator in procedure-specific studies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5831EE-03A9-44E2-B43D-40D90D1C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191125"/>
            <a:ext cx="42767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B"/>
          </a:solidFill>
          <a:ln xmlns:a="http://schemas.openxmlformats.org/drawingml/2006/main" w="9525">
            <a:solidFill>
              <a:srgbClr val="C7D6DE"/>
            </a:solidFill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39E338-CB9B-400E-8B29-4059F8518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5267325"/>
            <a:ext cx="40862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Evidence may favor navigation in selected spine screw-placement studies; cannot be generalized to all neuro procedures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206330-9A04-4FF6-97A9-851678EBC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Evidence boundary: independent spine meta-analysis cited on slide 12; platform descriptions cite official product sources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2697F9F-2C80-4301-9AAF-DF63037F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9AC8E7-12DF-49D4-9676-BE8D63B7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3099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07C8CD-6E5D-4CDB-A007-FE638E4A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Independent evidence: thoracolumbar pedicle screw placement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FC4D9-6905-4592-AAFA-6872D433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A 2024 meta-analysis compared navigated with conventional techniques; this result does not represent all neurosurgical procedures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6AEE5-1B09-4836-89E1-C966F679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9C45FA-392D-4A7B-8605-08ECDA54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381500" cy="3409950"/>
          </a:xfrm>
          <a:prstGeom xmlns:a="http://schemas.openxmlformats.org/drawingml/2006/main" prst="roundRect">
            <a:avLst>
              <a:gd name="adj" fmla="val 2235"/>
            </a:avLst>
          </a:prstGeom>
          <a:solidFill xmlns:a="http://schemas.openxmlformats.org/drawingml/2006/main">
            <a:srgbClr val="EFF5F7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6F20C7-8A23-444F-A61F-73234F3A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3360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Meta-analysis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1F8EFF-66B2-4BBC-AB2D-CACBA088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2571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30 studies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17,911 patients</a:t>
            </a:r>
          </a:p>
          <a:p xmlns:a="http://schemas.openxmlformats.org/drawingml/2006/main">
            <a:pPr>
              <a:def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24,600 pedicle screws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3C110F-A072-4722-BDB5-C11F5F602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28625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Population: thoracic, lumbar, and sacral pedicle screw fixation studies.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989098-974A-484F-8744-FF4C54BA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1895475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Clinically acceptable pedicle screw placement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7B04B2-CD74-433E-B9CD-DC1EAF5E4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514600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96.2%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064407-7C1A-4CF5-8693-EB13441B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30517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navigated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B7317-5D29-4A4B-815B-CFD3FF5B5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514600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2C618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3600" b="1">
                <a:solidFill>
                  <a:srgbClr val="2C618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2C618D"/>
                </a:solidFill>
                <a:latin typeface="Helvetica Neue"/>
                <a:ea typeface="Helvetica Neue"/>
                <a:cs typeface="Helvetica Neue"/>
              </a:rPr>
              <a:t>94.2%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B3070-D56E-426E-835A-39660FBA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30517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traditional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6F8C1D-E228-4143-911D-F190ADDA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867150"/>
            <a:ext cx="5429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90CFA-72BE-45D6-9B92-008B8B3D5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4143375"/>
            <a:ext cx="48101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The meta-analysis reported statistically significant differences favoring navigation for screw accuracy, hospital stay, blood loss, postoperative screw revision, and systemic complications. It reported no significant difference in operative time.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DC510-DCD8-4BF5-B116-097D5108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E87D3E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E87D3E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E87D3E"/>
                </a:solidFill>
                <a:latin typeface="Helvetica Neue"/>
                <a:ea typeface="Helvetica Neue"/>
                <a:cs typeface="Helvetica Neue"/>
              </a:rPr>
              <a:t>Do not extrapolate these results to cranial, endoscopic, or every navigation workflow without procedure-specific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70BA9F-7CEE-4DFC-B758-AC6B6533E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1085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Source: Papalia et al., Spine, 2024, PMID 39049509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14329-8F16-4513-8BF8-969B9FD3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14C2B7-99A8-4B2F-8F7B-CF533616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507420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FA59A8-B8AD-4654-AD07-940B34EC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Official competitor media and demos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0AD68-7BE5-4CDD-B49E-9EA4C13A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All visuals and links on this slide originate from the named vendors’ official product pages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79C21-04CD-4E1A-B4D9-F9E6BC83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16E6F-3625-4B5B-AEA2-DC82321C91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db78f323f4e58"/>
          <a:srcRect xmlns:a="http://schemas.openxmlformats.org/drawingml/2006/main" l="8626" t="0" r="86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733550"/>
            <a:ext cx="3390900" cy="2305050"/>
          </a:xfrm>
          <a:prstGeom xmlns:a="http://schemas.openxmlformats.org/drawingml/2006/main" prst="roundRect">
            <a:avLst>
              <a:gd name="adj" fmla="val 4959"/>
            </a:avLst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262483-AF2A-40A6-A4B3-A98993B934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c263431fb54f6f"/>
          <a:stretch xmlns:a="http://schemas.openxmlformats.org/drawingml/2006/main"/>
        </p:blipFill>
        <p:spPr>
          <a:xfrm xmlns:a="http://schemas.openxmlformats.org/drawingml/2006/main">
            <a:off x="4400550" y="2450439"/>
            <a:ext cx="3390900" cy="871273"/>
          </a:xfrm>
          <a:prstGeom xmlns:a="http://schemas.openxmlformats.org/drawingml/2006/main" prst="roundRect">
            <a:avLst>
              <a:gd name="adj" fmla="val 4959"/>
            </a:avLst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EA7BC-3554-4418-86BC-B43461F81C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b5450d81d40dd"/>
          <a:srcRect xmlns:a="http://schemas.openxmlformats.org/drawingml/2006/main" l="8626" t="0" r="862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72450" y="1733550"/>
            <a:ext cx="3390900" cy="2305050"/>
          </a:xfrm>
          <a:prstGeom xmlns:a="http://schemas.openxmlformats.org/drawingml/2006/main" prst="roundRect">
            <a:avLst>
              <a:gd name="adj" fmla="val 495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0137B-1C8A-4947-AD83-BB9945EB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24350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Globus ExcelsiusGPS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16B0CC-D9A5-46B9-B990-E9523D41D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3381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Official product page and Virtual Demo</a:t>
            </a:r>
          </a:p>
          <a:p xmlns:a="http://schemas.openxmlformats.org/drawingml/2006/main">
            <a:pPr>
              <a:defRPr sz="112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globusmedical.com/.../excelsiusgps/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B80AC-63D2-4269-A855-FEB26A363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24350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Stryker Q Guidance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E5DB6A-21A2-4ED2-BC94-639CEEB48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95825"/>
            <a:ext cx="3381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Official system and cranial/spine software page</a:t>
            </a:r>
          </a:p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stryker.com/.../q-guidance-system.html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0A9D5A-CFD8-4F32-BDD5-C640BD8F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24350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Medtronic StealthStation S8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EA39E3-7C5F-4239-89BB-53B699407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95825"/>
            <a:ext cx="3381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Official product page; links to neurosurgery navigation resources</a:t>
            </a:r>
          </a:p>
          <a:p xmlns:a="http://schemas.openxmlformats.org/drawingml/2006/main">
            <a:pPr>
              <a:def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medtronic.com/.../stealthstation-s8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EFA1B0-A98F-444F-AAF6-4677D51E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97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Globus’ official page includes an embedded Virtual Demo. Links are included as references rather than embedded video files so the deck remains portable.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5F0A48-DA44-4F83-9513-4958D5041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23CC4D-EE37-43B4-8F13-FEA565B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8256800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BF855D-06FE-47CA-BD27-BFFC7868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Findings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DFCBA2-9786-4EE3-B794-7AF7CFA7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This review establishes a structured baseline for further procedure-specific analysis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543F30-334C-4F34-AD94-FE9EA492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ABC1F-A264-46DF-851C-17AB58C4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0225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Findings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8E309-1454-49F8-AD55-C600554C7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051F2-9998-4116-82CC-D8C39DEC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09800"/>
            <a:ext cx="4667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The platforms converge around planning, registration, tracked instrumentation, and verification, but differ in tracking modalities, imaging integrations, and robotic support.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5C816-FF45-4FF6-85E3-CC851A22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F76C2D-CE35-47B4-A9DE-098C9465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4667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Navigation changes the workflow by adding registration, calibration, and verification steps before image-linked guidance can begin.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6F9F66-669C-461A-9CE5-B55616950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862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A9D716-ED3C-4D99-B0DB-6E7257BC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52900"/>
            <a:ext cx="4667250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The strongest quantitative evidence gathered here concerns thoracolumbar pedicle screw placement; broader clinical claims require procedure-specific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17730C-DD87-49C8-9737-933D50AC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24025"/>
            <a:ext cx="4286250" cy="3686175"/>
          </a:xfrm>
          <a:prstGeom xmlns:a="http://schemas.openxmlformats.org/drawingml/2006/main" prst="roundRect">
            <a:avLst>
              <a:gd name="adj" fmla="val 2067"/>
            </a:avLst>
          </a:prstGeom>
          <a:solidFill xmlns:a="http://schemas.openxmlformats.org/drawingml/2006/main">
            <a:srgbClr val="E8F5F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AB4EDB-B918-4985-BEBB-88005260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0859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45A49F-C84D-4407-91EF-B3EA179E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6479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BCB5C5-062A-4E7E-92AA-6757EF7F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59080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Validate each platform’s procedure list against current labeling and regional product documentation.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7A9A73-A74A-4C1D-86C6-2D2DD30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6707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FB7659-4365-4671-B0F3-D5B34EA8E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9925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Select one representative cranial and one representative spine procedure for a deeper, step-by-step workflow study.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C2F239-F5EB-4608-8415-BBA04DEA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8620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F87055-D1A4-4385-AA22-D4F9C96B0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829050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Add hospital-side inputs: setup time, imaging availability, sterile workflow, training, and cost considerations.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20960-FA4E-42ED-9411-621BA42A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05325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722BEB-538E-4E06-A8F4-7E97C465F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48175"/>
            <a:ext cx="304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Separate platform marketing claims from independent clinical evidence in the final written report.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70A9A-A138-4121-871A-062BEC1A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079DD-CBC5-4A65-9D09-DA20456C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8175088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0EB346-E811-4C6D-BAD3-45CDBE581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Sources and media credits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ABF9D-D30B-42AF-929D-AD85439D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Sources accessed October 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31ADBB-D018-4C98-A958-58C620E5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93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EFFDE-AF24-48FC-9555-6A8BBC59D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14500"/>
            <a:ext cx="190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Medtronic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6328B-8B46-4B84-8505-B91072F4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71450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StealthStation S8 Navigation Platform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8306D-EBAE-48B7-82E2-3953DE67A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8120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https://www.medtronic.com/en-us/healthcare-professionals/products/surgical-navigation-imaging/surgical-navigation-systems/stealthstation-s8-navigation-platform.html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F6262B-FBC0-467D-8C93-B5FE1202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14575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875AC-81FC-47CF-B55C-7944AFD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190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Stryker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00A447-D9DF-4053-A3A2-673A80DA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466975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Q Guidance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6EE74-C008-409C-B880-B77B74833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733675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https://www.stryker.com/us/en/spine/products/q-guidance-system.html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C30A9-679F-4B60-BCFA-2AFFEDE0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6D61AB-BDE9-45B0-BFC6-643F8A26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90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Brainlab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FB794B-B4F1-4481-86D1-6253D6228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21945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Spine &amp; Trauma Navigation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ECB304-6898-49CD-9F57-F05719EA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48615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https://www.brainlab.com/surgery-products/overview-spinal-trauma-products/spinal-navigation/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572F8F-DFC9-40D3-B02D-26058C27F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9F44A9-ABF5-4D5B-9122-3EC27706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71925"/>
            <a:ext cx="190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Globus Medical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AE0D3-D0A4-4866-B0B6-2B93CE2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71925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ExcelsiusGPS Robotic Navigation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FB8D2C-1BC5-47B4-B35B-05EE0A5F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238625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https://www.globusmedical.com/musculoskeletal-solutions/excelsiustechnology/excelsiusgps/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04635E-70B0-4B49-AD0B-E18A1418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87FADD-F32B-465B-8213-DA6892ED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24400"/>
            <a:ext cx="190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0B1F33"/>
                </a:solidFill>
                <a:latin typeface="Helvetica Neue"/>
                <a:ea typeface="Helvetica Neue"/>
                <a:cs typeface="Helvetica Neue"/>
              </a:rPr>
              <a:t>Papalia et al.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7C1500-F448-4911-AD09-4D19CEA9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24400"/>
            <a:ext cx="4572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18344D"/>
                </a:solidFill>
                <a:latin typeface="Helvetica Neue"/>
                <a:ea typeface="Helvetica Neue"/>
                <a:cs typeface="Helvetica Neue"/>
              </a:rPr>
              <a:t>Thoracolumbar pedicle screw meta-analysis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B78377-FEE1-4BFF-8CC1-792C643F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91100"/>
            <a:ext cx="781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87E8B"/>
                </a:solidFill>
                <a:latin typeface="Helvetica Neue"/>
                <a:ea typeface="Helvetica Neue"/>
                <a:cs typeface="Helvetica Neue"/>
              </a:rPr>
              <a:t>https://pubmed.ncbi.nlm.nih.gov/39049509/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20F588-4534-40C2-8BB2-948FEBCD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6DE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05CE52-7F70-497E-91FE-29C9FBD6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05475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Media credits appear in speaker notes for the slides that use them. Product information and media remain the property of the cited companies.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A5BD12-B59A-4F32-A801-1FC9C407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86525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Project 2 | Manual vs. Navigation-Guided Neurosurgical Procedure Analysis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4EE79E-4C4B-4A1C-88A9-9370C07E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86525"/>
            <a:ext cx="3429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def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defRPr>
            </a:pPr>
            <a:r>
              <a:rPr sz="750" b="0">
                <a:solidFill>
                  <a:srgbClr val="5C7181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505190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2026-10-07T05:47:42.9990000Z</dcterms:created>
  <dcterms:modified xsi:type="dcterms:W3CDTF">2026-10-07T05:47:42.9990000Z</dcterms:modified>
</coreProperties>
</file>