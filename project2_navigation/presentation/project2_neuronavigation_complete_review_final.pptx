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93d895f68c471a" /><Relationship Type="http://schemas.openxmlformats.org/officeDocument/2006/relationships/extended-properties" Target="/docProps/app.xml" Id="Re1aca5b913544865" /><Relationship Type="http://schemas.openxmlformats.org/officeDocument/2006/relationships/officeDocument" Target="/ppt/presentation.xml" Id="R2b091a86a90f4f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128d06ad56421a"/>
  </p:sldMasterIdLst>
  <p:notesMasterIdLst>
    <p:notesMasterId xmlns:r="http://schemas.openxmlformats.org/officeDocument/2006/relationships" r:id="Rf022fbd58ff14dc9"/>
  </p:notesMasterIdLst>
  <p:sldIdLst>
    <p:sldId xmlns:r="http://schemas.openxmlformats.org/officeDocument/2006/relationships" id="256" r:id="R659dbbe9531e4659"/>
    <p:sldId xmlns:r="http://schemas.openxmlformats.org/officeDocument/2006/relationships" id="257" r:id="Rb7b407dda4064f10"/>
    <p:sldId xmlns:r="http://schemas.openxmlformats.org/officeDocument/2006/relationships" id="258" r:id="Rc0bc08becec14790"/>
    <p:sldId xmlns:r="http://schemas.openxmlformats.org/officeDocument/2006/relationships" id="259" r:id="R15727a0b2e4e497d"/>
    <p:sldId xmlns:r="http://schemas.openxmlformats.org/officeDocument/2006/relationships" id="260" r:id="Rc7c06c7e4f094f4d"/>
    <p:sldId xmlns:r="http://schemas.openxmlformats.org/officeDocument/2006/relationships" id="261" r:id="R7c2e8791c1e2498f"/>
    <p:sldId xmlns:r="http://schemas.openxmlformats.org/officeDocument/2006/relationships" id="262" r:id="R8d5e3aea104d4861"/>
    <p:sldId xmlns:r="http://schemas.openxmlformats.org/officeDocument/2006/relationships" id="263" r:id="R8be3b1b5f5fa41e1"/>
    <p:sldId xmlns:r="http://schemas.openxmlformats.org/officeDocument/2006/relationships" id="264" r:id="R5586eeb38118475f"/>
    <p:sldId xmlns:r="http://schemas.openxmlformats.org/officeDocument/2006/relationships" id="265" r:id="R3196de15701d43b5"/>
    <p:sldId xmlns:r="http://schemas.openxmlformats.org/officeDocument/2006/relationships" id="266" r:id="Rb60313ca2dec48b0"/>
    <p:sldId xmlns:r="http://schemas.openxmlformats.org/officeDocument/2006/relationships" id="267" r:id="R3cd8c97edf204cc2"/>
    <p:sldId xmlns:r="http://schemas.openxmlformats.org/officeDocument/2006/relationships" id="268" r:id="Rf3bce72ebbc648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9257e75fbe417d" /><Relationship Type="http://schemas.openxmlformats.org/officeDocument/2006/relationships/slideMaster" Target="/ppt/slideMasters/slideMaster1.xml" Id="R9c128d06ad56421a" /><Relationship Type="http://schemas.openxmlformats.org/officeDocument/2006/relationships/notesMaster" Target="/ppt/notesMasters/notesMaster1.xml" Id="Rf022fbd58ff14dc9" /><Relationship Type="http://schemas.openxmlformats.org/officeDocument/2006/relationships/presProps" Target="/ppt/presProps.xml" Id="R3f91f327764043cf" /><Relationship Type="http://schemas.openxmlformats.org/officeDocument/2006/relationships/tableStyles" Target="/ppt/tableStyles.xml" Id="R45105c4384bf4112" /><Relationship Type="http://schemas.openxmlformats.org/officeDocument/2006/relationships/slide" Target="/ppt/slides/slide1.xml" Id="R659dbbe9531e4659" /><Relationship Type="http://schemas.openxmlformats.org/officeDocument/2006/relationships/slide" Target="/ppt/slides/slide2.xml" Id="Rb7b407dda4064f10" /><Relationship Type="http://schemas.openxmlformats.org/officeDocument/2006/relationships/slide" Target="/ppt/slides/slide3.xml" Id="Rc0bc08becec14790" /><Relationship Type="http://schemas.openxmlformats.org/officeDocument/2006/relationships/slide" Target="/ppt/slides/slide4.xml" Id="R15727a0b2e4e497d" /><Relationship Type="http://schemas.openxmlformats.org/officeDocument/2006/relationships/slide" Target="/ppt/slides/slide5.xml" Id="Rc7c06c7e4f094f4d" /><Relationship Type="http://schemas.openxmlformats.org/officeDocument/2006/relationships/slide" Target="/ppt/slides/slide6.xml" Id="R7c2e8791c1e2498f" /><Relationship Type="http://schemas.openxmlformats.org/officeDocument/2006/relationships/slide" Target="/ppt/slides/slide7.xml" Id="R8d5e3aea104d4861" /><Relationship Type="http://schemas.openxmlformats.org/officeDocument/2006/relationships/slide" Target="/ppt/slides/slide8.xml" Id="R8be3b1b5f5fa41e1" /><Relationship Type="http://schemas.openxmlformats.org/officeDocument/2006/relationships/slide" Target="/ppt/slides/slide9.xml" Id="R5586eeb38118475f" /><Relationship Type="http://schemas.openxmlformats.org/officeDocument/2006/relationships/slide" Target="/ppt/slides/slide10.xml" Id="R3196de15701d43b5" /><Relationship Type="http://schemas.openxmlformats.org/officeDocument/2006/relationships/slide" Target="/ppt/slides/slide11.xml" Id="Rb60313ca2dec48b0" /><Relationship Type="http://schemas.openxmlformats.org/officeDocument/2006/relationships/slide" Target="/ppt/slides/slide12.xml" Id="R3cd8c97edf204cc2" /><Relationship Type="http://schemas.openxmlformats.org/officeDocument/2006/relationships/slide" Target="/ppt/slides/slide13.xml" Id="Rf3bce72ebbc648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b1bf61f1e447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5947dac8bc4f34" /><Relationship Type="http://schemas.openxmlformats.org/officeDocument/2006/relationships/notesMaster" Target="/ppt/notesMasters/notesMaster1.xml" Id="R72d6b1980fe549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3fc23328d24d32" /><Relationship Type="http://schemas.openxmlformats.org/officeDocument/2006/relationships/notesMaster" Target="/ppt/notesMasters/notesMaster1.xml" Id="Rdd0050f99edf42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98bcc783f34fce" /><Relationship Type="http://schemas.openxmlformats.org/officeDocument/2006/relationships/notesMaster" Target="/ppt/notesMasters/notesMaster1.xml" Id="Rceccf7258bbe41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3fd16435cd4525" /><Relationship Type="http://schemas.openxmlformats.org/officeDocument/2006/relationships/notesMaster" Target="/ppt/notesMasters/notesMaster1.xml" Id="R26cd831935f443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ac9e85e10c4c62" /><Relationship Type="http://schemas.openxmlformats.org/officeDocument/2006/relationships/notesMaster" Target="/ppt/notesMasters/notesMaster1.xml" Id="R1d0dc9bdec3c49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47ebb192404227" /><Relationship Type="http://schemas.openxmlformats.org/officeDocument/2006/relationships/notesMaster" Target="/ppt/notesMasters/notesMaster1.xml" Id="R1a9b5301cf34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693b2d66174129" /><Relationship Type="http://schemas.openxmlformats.org/officeDocument/2006/relationships/notesMaster" Target="/ppt/notesMasters/notesMaster1.xml" Id="R8d7586053af946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63934932014213" /><Relationship Type="http://schemas.openxmlformats.org/officeDocument/2006/relationships/notesMaster" Target="/ppt/notesMasters/notesMaster1.xml" Id="Rc9231df461e94e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cea53f751d4ca7" /><Relationship Type="http://schemas.openxmlformats.org/officeDocument/2006/relationships/notesMaster" Target="/ppt/notesMasters/notesMaster1.xml" Id="R437609090ece45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f39f79a89b45ad" /><Relationship Type="http://schemas.openxmlformats.org/officeDocument/2006/relationships/notesMaster" Target="/ppt/notesMasters/notesMaster1.xml" Id="R88afd39b285241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1d14ffc9764f7c" /><Relationship Type="http://schemas.openxmlformats.org/officeDocument/2006/relationships/notesMaster" Target="/ppt/notesMasters/notesMaster1.xml" Id="R4dba00fc262d49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5e4e8e51c74c8c" /><Relationship Type="http://schemas.openxmlformats.org/officeDocument/2006/relationships/notesMaster" Target="/ppt/notesMasters/notesMaster1.xml" Id="R974f345085e840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68ec6565ff4aac" /><Relationship Type="http://schemas.openxmlformats.org/officeDocument/2006/relationships/notesMaster" Target="/ppt/notesMasters/notesMaster1.xml" Id="R3b533548386146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Cranial neuronavigation only. This deck excludes spine procedures and uses vendor product pages and direct official media for platform-specific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 and deliverables as supplied by the requester. Platform-specific statements appear only with cited official vendor sources in notes and the sources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Medtronic: https://www.medtronic.com/en-us/healthcare-professionals/products/surgical-navigation-imaging/surgical-navigation-systems/stealthstation-s8-navigation-platform.html. Stryker: https://www.stryker.com/us/en/spine/products/q-guidance-system.html (cranial capability section). Globus: https://www.globusmedical.com/musculoskeletal-solutions/excelsiustechnology/excelsiusgps/. Brainlab: https://www.brainlab.com/surgery-products/overview-neurosurgery-products/cranial-navigation/. Accessed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Image: https://media-assets.stryker.com/is/image/stryker/Q-guidance-cranial-components?$max_width_1440$. Sources: Medtronic StealthStation S8 official page, Stryker Q Guidance official page, Globus ExcelsiusGPS official page, Brainlab Cranial Navigation official page. URLs listed in slide 3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baseline for comparing workflow elements. This slide does not claim that any manual approach is universally appropriate. It reflects the procedure-level comparison requested.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synthesized from official descriptions for Medtronic StealthStation S8, Stryker Q Guidance, Globus ExcelsiusGPS, and Brainlab Cranial Navigation. URLs listed in slide 3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image: https://www.globusmedical.com/wp-content/themes/globus/images/scrollers/egps/EXCL_GPS_1801_TECH_FINALCONSTRUCT_ExcelsiusGPS_C.webp. Categories synthesize official platform descriptions. Exact compatibility must be confirmed in the relevant Instructions for Use and hospital protocol.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Representative conventional cranial surgical instrument taxonomy for internal workflow analysis. It makes no platform-specific compatibility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comparison synthesized from official product descriptions cited on slide 3. This slide does not claim clinical superiority for any system or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Medtronic describes navigation accuracy checks and warns users to stop navigation if accuracy cannot be restored. Medtronic also documents brain-shift monitoring/compensation through SonoNav. Sources: StealthStation S8 official page and https://www.medtronic.com/se-sv/healthcare-professionals/products/neurological/surgical-navigation-imaging/neurosurgery-imaging-surgical-navigation/systems-software-instruments.html.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assets: Globus header https://www.globusmedical.com/wp-content/themes/globus/images/posters/EGPS/EGPS-header-intro.webp; Stryker camera https://media-assets.stryker.com/is/image/stryker/front_20200414-1?$max_width_1440$; Stryker cranial components https://media-assets.stryker.com/is/image/stryker/Q-guidance-cranial-components?$max_width_1440$. Official product pages: Globus https://www.globusmedical.com/musculoskeletal-solutions/excelsiustechnology/excelsiusgps/; Stryker https://www.stryker.com/us/en/spine/products/q-guidance-system.html; Medtronic https://www.medtronic.com/en-us/healthcare-professionals/products/surgical-navigation-imaging/surgical-navigation-systems/stealthstation-s8-navigation-platform.html.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 slide. Details and source citations appear in the preceding slides and sources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slide lists all primary sources used in the deck. Image-specific direct asset URLs are included in notes for slides 4, 7, and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5f9a5e6fc48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3418f53584a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e35b847a24e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b40a3692240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272d64eb740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8e53b831d4f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A619E0-D17C-4A54-8C33-840DF7E31B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BBFB1D-4276-48D8-942E-B3A7262939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5D73BBA-C9EF-46A3-BA03-4EABFE0444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E6CC60-01CD-41FF-A6A2-1E1538C226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A6BA30-6D55-4742-82E4-0273796E4B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E667A6-B742-4889-A495-D5BAC2877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58BEFF-325C-4734-8581-48C7FF2CCA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2D78C3-982A-4816-B5F5-AEFB47901F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6B0562-FA26-4341-BADD-CA4043066A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9DF26D-0FBC-4BE2-AA7B-264B224252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c0c8ad0bf441b3" /><Relationship Type="http://schemas.openxmlformats.org/officeDocument/2006/relationships/slideLayout" Target="/ppt/slideLayouts/slideLayout1.xml" Id="Ra3949ff2fb6243be" /><Relationship Type="http://schemas.openxmlformats.org/officeDocument/2006/relationships/slideLayout" Target="/ppt/slideLayouts/slideLayout2.xml" Id="Rbe5f49eaef394d91" /><Relationship Type="http://schemas.openxmlformats.org/officeDocument/2006/relationships/slideLayout" Target="/ppt/slideLayouts/slideLayout3.xml" Id="R17fea8094cab4c1b" /><Relationship Type="http://schemas.openxmlformats.org/officeDocument/2006/relationships/slideLayout" Target="/ppt/slideLayouts/slideLayout4.xml" Id="R082b26a812da47a0" /><Relationship Type="http://schemas.openxmlformats.org/officeDocument/2006/relationships/slideLayout" Target="/ppt/slideLayouts/slideLayout5.xml" Id="Rf90171c015bb41b0" /><Relationship Type="http://schemas.openxmlformats.org/officeDocument/2006/relationships/slideLayout" Target="/ppt/slideLayouts/slideLayout6.xml" Id="Rd2a03a3c6b3244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949ff2fb6243be"/>
    <p:sldLayoutId xmlns:r="http://schemas.openxmlformats.org/officeDocument/2006/relationships" id="2147483650" r:id="Rbe5f49eaef394d91"/>
    <p:sldLayoutId xmlns:r="http://schemas.openxmlformats.org/officeDocument/2006/relationships" id="2147483651" r:id="R17fea8094cab4c1b"/>
    <p:sldLayoutId xmlns:r="http://schemas.openxmlformats.org/officeDocument/2006/relationships" id="2147483652" r:id="R082b26a812da47a0"/>
    <p:sldLayoutId xmlns:r="http://schemas.openxmlformats.org/officeDocument/2006/relationships" id="2147483653" r:id="Rf90171c015bb41b0"/>
    <p:sldLayoutId xmlns:r="http://schemas.openxmlformats.org/officeDocument/2006/relationships" id="2147483654" r:id="Rd2a03a3c6b3244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014a86ef2546db" /><Relationship Type="http://schemas.openxmlformats.org/officeDocument/2006/relationships/notesSlide" Target="/ppt/notesSlides/notesSlide1.xml" Id="R675ee29a98a448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8e90ef2b8d4eb9" /><Relationship Type="http://schemas.openxmlformats.org/officeDocument/2006/relationships/notesSlide" Target="/ppt/notesSlides/notesSlide2.xml" Id="R403981f25deb4b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e227405f8548ff" /><Relationship Type="http://schemas.openxmlformats.org/officeDocument/2006/relationships/notesSlide" Target="/ppt/notesSlides/notesSlide3.xml" Id="R73294aa3e90149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e95c97d62849d8" /><Relationship Type="http://schemas.openxmlformats.org/officeDocument/2006/relationships/image" Target="/ppt/media/image.jpeg" Id="R92767fd269104861" /><Relationship Type="http://schemas.openxmlformats.org/officeDocument/2006/relationships/notesSlide" Target="/ppt/notesSlides/notesSlide4.xml" Id="R08125e03db7345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98865a1214fc1" /><Relationship Type="http://schemas.openxmlformats.org/officeDocument/2006/relationships/notesSlide" Target="/ppt/notesSlides/notesSlide5.xml" Id="R6bf0e887e0bc48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498faa4d084565" /><Relationship Type="http://schemas.openxmlformats.org/officeDocument/2006/relationships/notesSlide" Target="/ppt/notesSlides/notesSlide6.xml" Id="R8ac146c165a847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b37aab7b2454e" /><Relationship Type="http://schemas.openxmlformats.org/officeDocument/2006/relationships/image" Target="/ppt/media/image2.jpeg" Id="R2131b2818f67438b" /><Relationship Type="http://schemas.openxmlformats.org/officeDocument/2006/relationships/notesSlide" Target="/ppt/notesSlides/notesSlide7.xml" Id="Ra83e07b88af741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586df9ce6e4338" /><Relationship Type="http://schemas.openxmlformats.org/officeDocument/2006/relationships/notesSlide" Target="/ppt/notesSlides/notesSlide8.xml" Id="R01c2c10d1de147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8a648e7ba44ae4" /><Relationship Type="http://schemas.openxmlformats.org/officeDocument/2006/relationships/notesSlide" Target="/ppt/notesSlides/notesSlide9.xml" Id="R338734b7fa2744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c6a5746874550" /><Relationship Type="http://schemas.openxmlformats.org/officeDocument/2006/relationships/notesSlide" Target="/ppt/notesSlides/notesSlide10.xml" Id="R9401e67867ea4a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8d7760137c4744" /><Relationship Type="http://schemas.openxmlformats.org/officeDocument/2006/relationships/image" Target="/ppt/media/image3.jpeg" Id="R55bfe3a3210a48fd" /><Relationship Type="http://schemas.openxmlformats.org/officeDocument/2006/relationships/image" Target="/ppt/media/image4.jpeg" Id="R5df3b65626f143e9" /><Relationship Type="http://schemas.openxmlformats.org/officeDocument/2006/relationships/image" Target="/ppt/media/image5.jpeg" Id="R14d82d3386044081" /><Relationship Type="http://schemas.openxmlformats.org/officeDocument/2006/relationships/notesSlide" Target="/ppt/notesSlides/notesSlide11.xml" Id="Rfea7089679c34f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7a766b5ffa4669" /><Relationship Type="http://schemas.openxmlformats.org/officeDocument/2006/relationships/notesSlide" Target="/ppt/notesSlides/notesSlide12.xml" Id="Rae290a6cb8ad4a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aba2e0a0940fb" /><Relationship Type="http://schemas.openxmlformats.org/officeDocument/2006/relationships/notesSlide" Target="/ppt/notesSlides/notesSlide13.xml" Id="Rf4ddca38beda44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D6E7D-0633-430E-B800-41E803D0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66675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9E5FF-AA57-4BEC-97EF-9D6B0297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914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78D5D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78D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8D5D4"/>
                </a:solidFill>
                <a:latin typeface="Helvetica Neue"/>
                <a:ea typeface="Helvetica Neue"/>
                <a:cs typeface="Helvetica Neue"/>
              </a:rPr>
              <a:t>PROJECT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BDDDE-04E0-4A8E-9519-92EAEEBE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76375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Manual vs. Navigation-Guided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Neurosurgical Procedure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653B6-3036-44AC-9783-2059221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C9DCE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C9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C9DCE5"/>
                </a:solidFill>
                <a:latin typeface="Helvetica Neue"/>
                <a:ea typeface="Helvetica Neue"/>
                <a:cs typeface="Helvetica Neue"/>
              </a:rPr>
              <a:t>Cranial neuronavigation systems, workflow, instruments, and accuracy considerations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EE7A1-5A75-45A9-8016-FC724914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AC2C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AC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AC2CF"/>
                </a:solidFill>
                <a:latin typeface="Helvetica Neue"/>
                <a:ea typeface="Helvetica Neue"/>
                <a:cs typeface="Helvetica Neue"/>
              </a:rPr>
              <a:t>Internal review | October 2026</a:t>
            </a:r>
          </a:p>
        </p:txBody>
      </p:sp>
    </p:spTree>
    <p:extLst>
      <p:ext uri="{BB962C8B-B14F-4D97-AF65-F5344CB8AC3E}">
        <p14:creationId xmlns:p14="http://schemas.microsoft.com/office/powerpoint/2010/main" val="397666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987D73-EBD6-4AEB-967C-0D65D6F8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Review scope and deliverables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4DE0A-3B00-495D-B219-DF05F529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Cranial neurosurgical workflows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90975-4010-4F90-A0E7-50CE2130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ABBCC-3F9E-42A8-96D2-529FDBE8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39697-17CB-4824-B4A9-FB539AC8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71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E66A5-1EC3-43F2-A7A6-ECE6711E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86000"/>
            <a:ext cx="443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Compare manual and navigation-guided neurosurgical procedures.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453F6-A04D-456A-A1B4-BA9E7437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F5F70-FD86-47CA-B1D7-9767D132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28950"/>
            <a:ext cx="443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Document supported cranial procedure types across major navigation platforms.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1A061-BC0E-4C58-A282-F87925E4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9CCBD-9664-4559-9828-11EB9407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71900"/>
            <a:ext cx="443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Map navigation workflow from patient registration through tracked instrument use and procedure completion.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B113C-E7B7-44C6-BC9B-D335F2AA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43075"/>
            <a:ext cx="4476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FF6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94C62-2215-43F4-91BD-5C84B2E0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Expected outputs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B85B4-7833-4CEB-872D-DC7BE8DA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3CB9B-58C6-43C9-8E28-19B828D3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60032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System-by-system procedure coverage.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A1132-3D03-45B0-96CB-E4507412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76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6E2A3-74D5-4713-8D91-4A41F91C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9087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Step-by-step navigation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44EF6-A78C-4ED0-9D41-BE08F793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6A775-B90F-43FA-8CED-EA71DD2D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78142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Tracked and conventional instrument taxonomy with purpose.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BD697-17CA-48D3-8057-4C04C57C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60DA6-42DA-4512-9793-D31C9ABE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37197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Manual versus navigation comparison, including accuracy limitations.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BE627-39D4-4F68-BA4A-A6A43602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00775"/>
            <a:ext cx="1085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Evidence policy: official vendor sources for system capabilities and media; no universal numerical accuracy claim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A8581-38BF-49E1-ACE7-954D315B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Project 2 | Manual vs. Navigation-Guided Neurosurgical Procedure Analysis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368D0-6EE6-4331-9851-B42C0F15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40527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E7727C-7473-41FF-B2C6-5AE736E8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Navigation systems and cranial procedure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F6238-16EE-4E66-8B79-8A226E48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Official descriptions indicate supported applications, not a recommendation or a complete indication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BD419-E3B6-474F-8D5E-69C7AB91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12187-867B-440A-9959-1A344A95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43A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CED8D-B470-4F16-9D09-08C47131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335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F6569-5A8B-4B42-A628-BAD8FF5A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66875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43A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EF653-EAD0-4C32-9EDE-5CE543A6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733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Cranial procedures documented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68B58-C77D-4935-B296-EAA62664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66875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43A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09666-171E-49DC-9564-252A468B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733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Workflow or feature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F0418-2F77-49F5-82A0-81B5318E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66875"/>
            <a:ext cx="3600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43A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97FB0-0898-4766-89B7-815F203A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3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Official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8629A-7E50-4155-87B7-6FFD12AC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24075"/>
            <a:ext cx="1771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2EFA6-E74F-4C4D-A7F1-AD4A1186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60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Medtronic</a:t>
            </a:r>
          </a:p>
          <a:p xmlns:a="http://schemas.openxmlformats.org/drawingml/2006/main">
            <a: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StealthStation S8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71A08-598F-4B99-837B-9DEC42CB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24075"/>
            <a:ext cx="28194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19E49-5C02-404F-BCD2-95B362BB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190750"/>
            <a:ext cx="2647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Tumor resection; cranial biopsy; ventricular catheter placement; depth electrode, lead, and probe placement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00FE8-9AF7-42F1-B452-DACAF39F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24075"/>
            <a:ext cx="27432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EFF20-D8F4-41EB-A8C4-0E21B968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90750"/>
            <a:ext cx="2571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Optical and electromagnetic tracking; imaging and visualization integrations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459B0-C0A4-4C41-9AB1-DB258B03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24075"/>
            <a:ext cx="36004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23D51-52B4-4AB6-8FCA-4B6489F9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342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StealthStation S8 Navigation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45882-4649-42C8-9C1E-13305DAD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1771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D2B-68C6-4D90-81B4-988471C0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76575"/>
            <a:ext cx="160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Stryker</a:t>
            </a:r>
          </a:p>
          <a:p xmlns:a="http://schemas.openxmlformats.org/drawingml/2006/main">
            <a: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Q Guidance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F0AB4-6E9A-46D2-BC77-BA1F49BA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09900"/>
            <a:ext cx="28194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78BB0-E4F2-4FC3-8122-E361DC30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076575"/>
            <a:ext cx="2647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Cranial guidance; EM-navigated catheter placement; Precision Targeting System for brain biopsy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5BDC8B-1F2E-43D1-8D1C-9086003C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27432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8ED907-14A2-436B-B64A-52033F67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76575"/>
            <a:ext cx="2571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Hybrid optical tracking; optional EM components; CT auto-registration integration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D35512-EFDA-4050-A6ED-EEE4C34A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36004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750C08-A6F1-42C4-9748-B7CFE397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76575"/>
            <a:ext cx="342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Q Guidance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89491-4CB6-4727-ADE9-483B45C0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1771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357ADA-1C6E-4AFD-ABD9-D16439C3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62400"/>
            <a:ext cx="160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Globus</a:t>
            </a:r>
          </a:p>
          <a:p xmlns:a="http://schemas.openxmlformats.org/drawingml/2006/main">
            <a: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ExcelsiusGPS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681B4B-49C7-4FF0-A001-EFA770A4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95725"/>
            <a:ext cx="28194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04BD41-7641-4A39-86A8-7EE1E354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962400"/>
            <a:ext cx="2647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Cranial stereotactic procedures, including biopsies and DBS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0DEBE6-919C-4E2D-834D-E8B5FC0B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95725"/>
            <a:ext cx="27432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069810-D841-4E09-9E28-46302712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962400"/>
            <a:ext cx="2571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Planning, tracking camera, robotic navigation, and imaging compatibility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9587C2-ADCE-4214-BF3A-12443503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95725"/>
            <a:ext cx="36004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65CF13-C9BD-499F-8F9B-08916FD8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62400"/>
            <a:ext cx="342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ExcelsiusGPS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58A4D2-B7D2-4506-9763-25DCC78E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1771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31E54B-6E1B-44AB-8273-2D9C4E97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48225"/>
            <a:ext cx="160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Brainlab</a:t>
            </a:r>
          </a:p>
          <a:p xmlns:a="http://schemas.openxmlformats.org/drawingml/2006/main">
            <a: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Cranial Navigation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9A4AE6-D9CC-4128-B62E-445A6353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81550"/>
            <a:ext cx="28194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511306-FF5B-4D2D-944D-76759F12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848225"/>
            <a:ext cx="2647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Cranial planning and image-guided navigation workflows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2CCC0D-21E9-4DDB-926B-46B4692C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81550"/>
            <a:ext cx="27432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DCC458-535D-4DDF-A642-41BFA0FB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848225"/>
            <a:ext cx="2571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Navigation software, image fusion, and tracked instrument visualization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A75005-161B-4349-800B-8152BA26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81550"/>
            <a:ext cx="36004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6F1215-BDB8-4037-B00B-1A7891D8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48225"/>
            <a:ext cx="342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Brainlab Cranial Navigation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99F952-3EF5-4483-9CA7-3692B192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00775"/>
            <a:ext cx="1085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Sources: official Medtronic, Stryker, Globus Medical, and Brainlab cranial-navigation pages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AE82E2-E28D-4DF3-91D2-8A2C004E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Project 2 | Manual vs. Navigation-Guided Neurosurgical Procedure Analysis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41FDFB-E228-4BF0-898C-66AB6790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48224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F02ED-B904-47C4-A83B-61C9B2D7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System-specific cranial navigation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5A7E7-E55B-4FA4-AA96-D2CB2A86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The systems share core workflow stages while differing in tracking, registration, and targeting implementations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0ACAC-B909-485D-BE77-597F3465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D5B55-C38B-4240-B0DA-42B0A0B758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67fd269104861"/>
          <a:stretch xmlns:a="http://schemas.openxmlformats.org/drawingml/2006/main"/>
        </p:blipFill>
        <p:spPr>
          <a:xfrm xmlns:a="http://schemas.openxmlformats.org/drawingml/2006/main">
            <a:off x="653822" y="1695450"/>
            <a:ext cx="3492956" cy="3381375"/>
          </a:xfrm>
          <a:prstGeom xmlns:a="http://schemas.openxmlformats.org/drawingml/2006/main" prst="roundRect">
            <a:avLst>
              <a:gd name="adj" fmla="val 338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30E38-1BD0-4939-9EA3-72CF882D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48275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Stryker Q Guidance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42769-8C31-485B-8EE9-5D533078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721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Cranial Guidance Software, optional EM catheter placement, and a targeting option for brain biopsy.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668C5-826E-4C77-A7B4-204F0558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Medtronic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A90A0-6CFD-4B94-B424-B9326431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Optical and EM tracking; imaging and visualization integrations.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61873-11BC-4922-B4D7-4A50E858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E19B7-53A9-42E3-98AA-4D7EA7B6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289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Globus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C7929-1683-4FDD-AD9F-F162F93E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Cranial stereotactic workflow from biopsy through complex DBS.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D2655-D075-4233-BA63-9E7FAE12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43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C01DD-14AF-441B-BF5E-8D623778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481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Brainlab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E6A92-670A-4E53-8DC7-696BDAFD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91050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Cranial planning, image fusion, and tracked instrument visualization.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842A3-4369-4E01-94D7-2FB60AF0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625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D478C-136F-4175-85E3-53026915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00775"/>
            <a:ext cx="1085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Official image: Stryker Q Guidance product page | Feature descriptions: cited official product pages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BE56C9-97F8-4931-AF11-BEA8C7A5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Project 2 | Manual vs. Navigation-Guided Neurosurgical Procedure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35340-D9CF-4616-8DAC-996C2416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90083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FA2AF-1A0A-4199-9749-E9C1CB85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Manual neurosurgical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E66FA-D7BD-4887-B9AE-139847DA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Representative non-navigated sequence used as the comparison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C28F2-706D-4327-81CA-D226E4EF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A8E3D-A6FE-45CB-87CC-2F65983B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6671B-9FA3-4B3E-9076-093CE2EE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Preoperative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CF581-6093-404E-BF55-BF2FA807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431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Review diagnostic imaging, target, approach, landmarks, and contingencies.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0C479-010A-4075-8AC3-BEAF594D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3842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7FF81-2498-49D9-9DDD-B08DA39E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E9FA8-DBBE-4065-BBD1-812E80E6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Exposure and localization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6D60E-A7F3-43E2-A693-D672547F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146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Use clinical anatomy, direct visualization, and procedure-specific imaging where available.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F136C-4338-465C-9832-478E1D92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0997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750F2-D5F8-40F9-A1F1-97216EE7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C6191-B595-4A19-871F-69B14DF9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528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Conventional instrument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4804F-3D70-46CC-80D5-6A902AAB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62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Advance instruments using the operative field, tactile feedback, and the planned approach.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ABF83-BAE8-43D2-8C16-94ADE08A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8152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C04D7-3961-4DD8-A28D-5602286C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11AF5-A6E9-4260-8F3F-BC9D91C2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244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Procedure completion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7E6DF-CCEA-4E8A-A34D-FA8938F8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577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Confirm the intended result with surgeon assessment and procedure-specific verification.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0D282-A543-4A63-87D3-ABEB4EE4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5307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E68E31-F275-4886-B928-156835A9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57875"/>
            <a:ext cx="866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Manual workflows differ by procedure, anatomy, available imaging, and surgical team practice.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AE576-6829-4430-96CF-C93F24A5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Project 2 | Manual vs. Navigation-Guided Neurosurgical Procedure Analysis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6B462-74AE-4FFE-B09F-50A1AE22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93778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57A7F8-0CF7-4E18-83A7-54FC98F0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Navigation-guided cranial procedure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0365C-3348-40BC-B89A-A5BFE451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Step-by-step sequence from patient registration to tracked instrument use and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A7339-7C06-46A0-B5AA-AC2581A5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CE5B8-BD66-4E9D-8052-7097CB8D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4310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FF6F7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1F45A-2D64-4E98-A9C8-5895444D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050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4C6A3-E245-4650-87DB-BCBFF997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08597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Acquire and import</a:t>
            </a:r>
          </a:p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imaging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18B03-E13A-4651-892D-BE5A610B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310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FF6F7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04A41-9404-4625-AE74-E9832C2A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050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0D814-4207-4BC8-8578-9E6B465E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8597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Plan target and</a:t>
            </a:r>
          </a:p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trajectory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08E8E-DB79-47CB-8566-1D774058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4310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FF6F7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7C6F5-1371-4F92-9D71-2B44F90E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050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168F9-A269-4036-9D7A-CC257210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8597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Position patient and</a:t>
            </a:r>
          </a:p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attach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5C6A3-D7C0-4BFE-AB38-EC88A824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4310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FF6F7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469CF-8FC2-437F-A2D1-39D72E41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050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E5497-DA30-4F8E-86FB-66577076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8597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Register image to</a:t>
            </a:r>
          </a:p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patient anatomy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C0082-C114-475D-9E68-6F927F36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433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7A3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392AA-DC1D-4ABC-A5FB-424031BC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052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7B189-CD94-4DD5-B3CE-A738030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862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Verify registration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accuracy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0C1644-1004-4848-9907-306B96C0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FF6F7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4AA48-5ACF-4AB3-BA61-62C073F1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052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559F9-C14C-4B57-AA7D-10E31470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862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Calibrate or connect</a:t>
            </a:r>
          </a:p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tracked instrument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224D9A-6E3E-472F-99CC-0B80ACB7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9433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FF6F7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316DF7-A641-4A46-8A76-04DBFDF7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052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76E1BB-534F-4D0E-A4B8-0C24361E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862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Navigate and re-check</a:t>
            </a:r>
          </a:p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during the procedure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35453E-5FBC-4EFE-B570-184E500D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433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E7318A-732F-4C46-9ED7-75D56B29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052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626A47-C808-4753-B239-67F5B0D4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862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Complete procedure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and verify result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8B9AB4-ABC1-4F6C-8D6D-DC26740C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4479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42069B-8FD2-4C4F-AE89-D5CE45A6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4481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923C19-B83D-4B1E-ADC7-1F14B066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479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34C80A-0014-4DAC-A8FE-CBAAAB98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481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F08D05-0B66-47C4-B486-C56476FA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479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F202FD-67E5-481F-A798-C2FF43EE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481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28E06D-6C35-4741-A337-308E93EE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09900"/>
            <a:ext cx="285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7B4B87-A030-410A-ADCB-7D6D076D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09900"/>
            <a:ext cx="285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B23110-366C-4D08-8926-323B67BF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531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Registration verification and stable patient reference are control points before and during image-guided navigation.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973AFF-3C9F-4029-84FD-17F78570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Project 2 | Manual vs. Navigation-Guided Neurosurgical Procedure Analysis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A9A60F-C4E8-4737-9D7C-9BABCA93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209581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774517-2F01-4770-B819-F1796AD8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Navigated instruments and components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EC530-F258-4A5C-A095-3D717722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Tracked equipment provides image-linked position information after registration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805CC-93F5-4347-B2A5-0FB5E5AC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A7A25-A9C9-41B9-9794-3B52963D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430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Patient reference frame or array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BEDF0-A234-4147-A1F7-92ADAE4F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38350"/>
            <a:ext cx="528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Establishes the patient coordinate reference for tracking.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80D9B-CFA5-4A9F-B2AE-BEB0DFAB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7407C-8E45-415C-AAB0-67354F7B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Navigation probe or pointer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C82CA-5CED-40E4-850E-1D0CA981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19400"/>
            <a:ext cx="528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Localizes anatomy and helps verify registration.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1FDA8-AEB1-4E9A-91A5-B97EFC07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F4D0B-0DF1-4501-995C-F21E9A86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051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Tracked biopsy needle or guide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E273E-F6D3-4B46-BC16-1D73E838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0450"/>
            <a:ext cx="528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Displays target and planned trajectory during sampling.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1E308-C459-46D2-A5A8-CA82D141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CA5FD-F9F3-4DB2-851C-6E4E9B7C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8622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Tracked suction or instrument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CAA96-B8BC-4B1C-873C-BF220F0A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0"/>
            <a:ext cx="528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Enables compatible surgical instruments to be displayed in the navigation system.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BF634-9CCF-4D74-B220-85DE7F98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006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9D57B-BD8A-4886-8F16-BD0F0C90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672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Calibration tool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2DC9C-72CB-4E13-A355-220A15F6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62550"/>
            <a:ext cx="528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Associates the instrument tip and geometry with the tracking system.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FEECF-0A1F-4535-8478-C85BB0D1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816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86BD9-CA94-4937-A79C-DB799B4C3C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1b2818f67438b"/>
          <a:stretch xmlns:a="http://schemas.openxmlformats.org/drawingml/2006/main"/>
        </p:blipFill>
        <p:spPr>
          <a:xfrm xmlns:a="http://schemas.openxmlformats.org/drawingml/2006/main">
            <a:off x="7352356" y="1657350"/>
            <a:ext cx="2621263" cy="3857625"/>
          </a:xfrm>
          <a:prstGeom xmlns:a="http://schemas.openxmlformats.org/drawingml/2006/main" prst="roundRect">
            <a:avLst>
              <a:gd name="adj" fmla="val 393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593D4-E6CC-48E4-B304-6D473337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483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Configuration note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F9F270-DC77-4801-B98C-7E41EA33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43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Compatible instruments and adapters vary by platform, software application, and approved use.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E6A69C-6A2C-4DD0-8BEC-814EDB59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00775"/>
            <a:ext cx="1085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Official image: Globus Medical ExcelsiusGPS product page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7BF73-F533-47EF-933E-D1FC6AFE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Project 2 | Manual vs. Navigation-Guided Neurosurgical Procedure Analysis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785044-4558-41E1-BEEF-63AF14F3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10864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16B1DD-3B8F-4740-A3BB-FAF32492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Conventional neurosurgical instruments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18C45-E2B3-47E2-BFAA-531D9614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Navigation complements, rather than replaces, the core operative instrument 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02875-09A1-4EF7-8E5F-6F919CE0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40BFD-CD97-4989-96FF-DF9847D7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20193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43A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9ED06-2D2D-423F-8511-44D01DEF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62125"/>
            <a:ext cx="1847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Category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8838C-E6AF-4EFF-8855-C0B6968C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95450"/>
            <a:ext cx="34194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43A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64726-E622-48AC-845E-7ED59357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62125"/>
            <a:ext cx="3248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Representative conventional instruments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3841E-C5A8-4693-8BE1-F3C48849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95450"/>
            <a:ext cx="4629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43A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901AD-959A-4014-8558-DBAA1DF7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62125"/>
            <a:ext cx="4457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Purpose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63A33-E6DB-4128-A285-1C081247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2019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CFA7A-419B-4606-9D81-CACE6599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9800"/>
            <a:ext cx="1847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Exposure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ED8B3-0F77-4D8E-9599-ED1CFBAD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43125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C2E7F-E060-4BA3-B344-6B5303B9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09800"/>
            <a:ext cx="3248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Scalpel, scissors, forceps, retractors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6AABD-6E74-4C02-B7DA-27D1175A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43125"/>
            <a:ext cx="4629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62C4C-EAAC-46AA-A70C-B836F94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4457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Create access and maintain the surgical corridor.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9FA28-DB8D-477D-B097-DD538C77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019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97B51-47E8-4A5C-8848-4DD97AF0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43225"/>
            <a:ext cx="1847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Hemostasis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22EA1-90F4-4F78-B8CF-D50135A3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76550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A2D4D-C138-4820-B865-28266D76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43225"/>
            <a:ext cx="3248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Bipolar forceps, suction, hemostatic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64283-D2DF-44E3-9F8F-B450FD1A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76550"/>
            <a:ext cx="4629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C125BA-F32B-4333-8FEC-B5579CF0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43225"/>
            <a:ext cx="4457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Control bleeding and keep the field visible.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8C83C8-3896-4F02-99E2-99F246FB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9975"/>
            <a:ext cx="2019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6EA390-BE34-4C66-A6D2-8BAC2DE0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76650"/>
            <a:ext cx="1847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Bone 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F03DEF-F771-4E06-B28C-42BE17CC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09975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E7532B-F65F-40A5-8855-DC842445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76650"/>
            <a:ext cx="3248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High-speed drill, rongeur, curette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F2482-ADB5-4AA9-BE39-7552ABDD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09975"/>
            <a:ext cx="4629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EB0459-46D9-4A25-9488-2065D75C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76650"/>
            <a:ext cx="4457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Perform procedure-specific cranial bone work.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C9E52F-B32C-429B-BE90-7E48FE54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2019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1AD6F4-88B7-44F5-9B9B-E63CF3BD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10075"/>
            <a:ext cx="1847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Dissection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69DC42-0A8A-4B54-933C-EA95E0C1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6EDDE2-494C-47BC-9319-D896B35C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10075"/>
            <a:ext cx="3248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Dissectors, elevators, microinstruments, graspers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995568-B745-4565-8768-05B5D53A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43400"/>
            <a:ext cx="4629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264BCD-9CD4-4A1A-A798-4D4E4BDC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10075"/>
            <a:ext cx="4457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Mobilize tissue and protect surrounding anatomy.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A37A2B-4A2E-48F2-87EA-84FD55D5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76825"/>
            <a:ext cx="2019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21188C-5631-4A4D-A00B-68384C3E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43500"/>
            <a:ext cx="1847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Closure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7450A2-813F-4CA0-A19C-FD9C0512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76825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E11401-3F07-40FF-A9CF-5359ABD3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43500"/>
            <a:ext cx="3248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Needle holder, forceps, sutures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117E04-6CAD-4681-8E7F-28622300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076825"/>
            <a:ext cx="4629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824BA2-C27A-4884-80B2-82D4FB5D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4457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Close tissue layers after the procedure.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7DD0A0-E9E2-4FC8-BC67-AFE7EF80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245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Representative taxonomy for workflow analysis. Instrument selection depends on procedure, anatomy, surgeon preference, and hospital protocol.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BE2D02-1534-46D8-8B97-2382FB87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Project 2 | Manual vs. Navigation-Guided Neurosurgical Procedure Analysis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59B0A7-6A6F-4FDA-B87E-8FF0FD24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523386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8D38B2-D3B6-47A6-AE5A-A011631A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Manual versus navigation-guided procedures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15BA9-0F4B-48BA-8695-2496858D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Comparison of workflow, information available to the surgeon,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0D9A1-7183-45C4-95E2-B23164AA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E1BEC-3F01-4D84-A107-F913E21B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43A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E370D-6854-4482-B688-1DF9F9A2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Dimension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B91E4-864D-4164-9C4C-061589DA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28775"/>
            <a:ext cx="426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43A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9182D-33B1-498B-9044-5A91FE81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695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Manual / non-navigated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D4F68-8EC4-4073-AE43-79AB5E46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28775"/>
            <a:ext cx="426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43A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8937C-FF8A-4915-B230-24AA972B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Navigation-guided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EE06A-BE42-4814-B2AC-A1498E87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85975"/>
            <a:ext cx="24003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017D3-F2F7-4F6D-AEFF-885652FC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52650"/>
            <a:ext cx="2228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Localization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56F4C-FF81-4292-ACAF-8EBDF1FA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85975"/>
            <a:ext cx="4267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474F0-2604-40C1-BD70-75A46EAB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526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Direct visualization, known anatomy, and available procedure-specific imaging.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A875E-42E4-41B5-B38F-AB228FE2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85975"/>
            <a:ext cx="4267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03868-7418-4E34-BF43-4CC7CB02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526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Registered imaging plus position display for compatible tracked instruments.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1AB37-C0B4-4AA5-AA98-80F27443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24003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42B5B-98FC-4AEB-8708-D05A3297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228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Planning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E3D52-39BB-44A7-B3AB-7D7554AC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4267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739CF-09F5-49BC-88B2-714660CC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90512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Plan reviewed outside a linked navigation display.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6098A-A16D-462B-99AC-CD516D69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38450"/>
            <a:ext cx="4267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006B2-80EC-41C8-BAEE-34DCAD8D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0512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Target and trajectory can be recorded in the navigation plan.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6BE8BD-34B8-448E-801E-713C6422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24003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8C99D-3BB8-4D2B-9381-899C87F4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57600"/>
            <a:ext cx="2228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Setup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CB1F86-2EEA-4BEC-B949-1E454D87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90925"/>
            <a:ext cx="4267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DBEA1C-8C3F-4AF2-848C-EE4DA7FD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576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No patient registration or tracking hardware.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04BBE-FAD8-4ADD-A563-F04CAFE9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90925"/>
            <a:ext cx="4267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ACC47A-72C5-4F93-B60B-27D9D3C6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576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Requires reference, registration, verification, and compatible tracking hardware.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4EF296-1736-4911-BE3C-807D97B5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24003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7CCE2B-5825-49EE-A7B1-2254452A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0075"/>
            <a:ext cx="2228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Instrument position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3BD038-FE83-4A66-8A13-27F7CF7A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43400"/>
            <a:ext cx="4267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CFF8B1-44DD-434B-AB50-4E210084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4100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No real-time instrument display on the image dataset.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479835-EB57-43C6-8B2D-D775830F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43400"/>
            <a:ext cx="4267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F5445A-985B-42FB-B7FA-9170804E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100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Image-linked display while registration remains valid.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896B5F-86F7-4104-8125-5D97AD5F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24003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463132-042B-44FD-8B92-5AC9E6D5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62550"/>
            <a:ext cx="2228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595F23-0A80-46CA-8943-CC8EDB8D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95875"/>
            <a:ext cx="4267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E916F7-FEE2-4379-A56C-A27E131E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1625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Depends on anatomy, imaging availability, and operator experience.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FB67FE-4261-405C-B885-3A904964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95875"/>
            <a:ext cx="4267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160AE5-7897-487E-A7AF-781E7B2B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1625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Depends on registration validity, reference stability, tracking conditions, imaging currency, and training.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66FC9F-36FF-4620-8AE0-FB664A53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00775"/>
            <a:ext cx="1085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Workflow comparison derived from the cited official platform descriptions; outcome claims require procedure-specific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17B9CE-F316-4161-B01A-5D02A592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Project 2 | Manual vs. Navigation-Guided Neurosurgical Procedure Analysis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F556BF-7486-4574-BC7D-EF1306E5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001351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5B2DCC-EFE5-4075-AF27-62614CA0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Accuracy considerations and safety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7B54B-6406-4933-B946-08FF2FE9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Cranial navigation accuracy depends on the validity of the image-to-patient relationship throughout the 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B390D-9D3A-4866-95EF-ECAD0074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9CA85-8A59-43C1-9E60-D4D6DD6E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7A3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DA68D-8D11-4149-BEA9-ED62394A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621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Registration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B30E0-D840-4589-A740-3ADD25E4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The initial image-to-patient match can be inaccurate. Verify it at known landmarks before instrument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E3F95-F89F-4B69-B5F9-27D81391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09825"/>
            <a:ext cx="938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A0EC4-BF2A-446E-9284-F5D04DA3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8D297-2799-4B8F-AE37-666B2FE2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Reference movement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559DE-545A-4F71-8B61-8CA86074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241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Movement of the patient reference can invalidate the displayed relationship to imaging.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3D9F0-3C3A-47F7-B260-758BF899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71825"/>
            <a:ext cx="938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E2A34-FD44-4384-AB1D-64E9F632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29113-BC08-479D-B875-359C4A92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Tracking conditions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6E060-7489-49BE-B47F-FD990AAA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861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Optical line of sight, camera positioning, or EM environment can affect tracking performance.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41248-25D8-4EB0-B966-F814FA2C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33825"/>
            <a:ext cx="938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5E5AB-C8A2-4589-B79D-BEB48E93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5D806-F8DA-43FB-B09C-3077B3CA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481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Anatomic change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614C9-56BA-4D4F-99B7-F6529549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481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Brain shift and tissue deformation can reduce correspondence with preoperative imaging.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70EDB-CF40-451D-83E8-C663A360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95825"/>
            <a:ext cx="938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E475A-1674-4E86-82C3-672C81C5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C59B1-7F7B-4BF8-9E44-7D31D175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01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Imaging and plan currency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22D2A7-2DA7-4224-85F4-E4394A91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01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Navigation displays the loaded images and plan. Update strategy when intraoperative conditions change.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B58603-DE98-4D7C-ADB3-36EFA01A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57825"/>
            <a:ext cx="938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93801B-CDD7-4072-88FC-B616825F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72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D7A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DD7A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D7A37"/>
                </a:solidFill>
                <a:latin typeface="Helvetica Neue"/>
                <a:ea typeface="Helvetica Neue"/>
                <a:cs typeface="Helvetica Neue"/>
              </a:rPr>
              <a:t>No single numerical accuracy value applies across systems or cranial procedure types. Use system-specific validation and procedure-specific evidence.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B53F74-EFC5-41A3-94A8-C612FB48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Project 2 | Manual vs. Navigation-Guided Neurosurgical Procedure Analysis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091279-F35B-4067-A1EF-A5226402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818553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5BC02-FBC8-4056-AE8F-9DC6EF88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Competitor media and official demos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BC9FD-67EF-479A-885A-458AD844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Images use PowerPoint-compatible JPEG files derived from official vendor page assets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391E6-0A74-4E4A-8F78-C629128B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348C9-EC7D-48FB-85FA-2A5E7C8DD0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fe3a3210a48fd"/>
          <a:srcRect xmlns:a="http://schemas.openxmlformats.org/drawingml/2006/main" l="7201" t="0" r="72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7335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F5713-383C-4A47-8350-057CDED9BE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3b65626f143e9"/>
          <a:stretch xmlns:a="http://schemas.openxmlformats.org/drawingml/2006/main"/>
        </p:blipFill>
        <p:spPr>
          <a:xfrm xmlns:a="http://schemas.openxmlformats.org/drawingml/2006/main">
            <a:off x="4438650" y="2400631"/>
            <a:ext cx="3333750" cy="856589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594A5-9224-49A5-BC4D-9C45B94EA2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82d3386044081"/>
          <a:stretch xmlns:a="http://schemas.openxmlformats.org/drawingml/2006/main"/>
        </p:blipFill>
        <p:spPr>
          <a:xfrm xmlns:a="http://schemas.openxmlformats.org/drawingml/2006/main">
            <a:off x="8784004" y="1733550"/>
            <a:ext cx="2263042" cy="219075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DD327-73C7-48B0-A722-9965EAB4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Globus Medical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D19E6-5FFF-44AD-9680-5C2B3203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767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ExcelsiusGPS official product page includes a Virtual Demo.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AF277-9A69-42E4-B178-496D3B02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243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Stryker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69013-33D2-4A56-A5D4-8A3EC168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767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Q Guidance official product page and cranial guidance material.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276C6-6210-4E10-B0BE-37EE284C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43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Medtronic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F6B13-C5F0-4B3A-8A89-0E3998BD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StealthStation S8 official product page with navigation resources.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62ADB-057D-43DB-87D5-ABE519D9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Video links remain external rather than embedded so the deck stays portable and opens reliably in desktop PowerPoint.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EA919-10F5-4B4C-9A46-A7F724D6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Project 2 | Manual vs. Navigation-Guided Neurosurgical Procedure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A766F-B451-4401-B1F6-90D75AF9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87112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5AA7DC-5ACE-4FE9-A268-2BB4A174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Findings for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03D09-AAB8-4AD5-A40D-73522DBB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The review delivers the requested comparison, workflow, procedure coverage, and instrument taxonomy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EA9FF-9451-4F5F-9605-796F15F6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A9900-8A7B-4FE0-B1DC-49229B02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What the review establishes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76CF2-36D0-445A-8CC9-77CC8214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71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CD653-8241-4DF5-98B8-6EC25142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86000"/>
            <a:ext cx="4676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Each reviewed platform describes a cranial navigation offering, though procedure coverage and terminology differ.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5D4B0-DA5E-43E5-A988-36AD25FA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4956E-8CA1-4599-BFBF-12EB642A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67050"/>
            <a:ext cx="4676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Navigation adds planning, registration, tracking, and verification tasks to the operative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1C74E-3BD3-4D20-9643-2C4D802A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B53A6-C93C-4FE1-800D-0A3C7986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48100"/>
            <a:ext cx="4676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Tracked components provide image-linked location information; conventional instruments remain essential for exposure, dissection, hemostasis, and closure.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1D138-A131-4891-907E-8164D061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87FEE-41A7-46F7-A401-682EEF42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29150"/>
            <a:ext cx="4676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Accuracy requires continuous attention to registration, reference stability, tracking conditions, and intraoperative anatomic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EDFDB-65C4-49BE-862B-F8C1BCA3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724025"/>
            <a:ext cx="4286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FF6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0559D-96FA-4316-8196-B19A63FD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859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Scope 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1F695-D407-4757-A7D4-3C2A8A2E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00325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1DB65-F93B-4118-8FA3-A5167C38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0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Procedure types per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AEA7B-ADEC-4CAE-B7C2-6368337D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131378-DB44-4399-9CB5-22976767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52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Navigation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88DD8-5510-439A-A9A0-EB798404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05175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280C3-40B3-4FFE-8850-900D53C5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05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Navigated instruments and purpose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EC887B-1FA5-4DFE-8AAB-094075EF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5760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69CA8-95D9-4E9E-BFE4-FAEEFA12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57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Conventional instruments and purpose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E6E29-1B38-4C99-BD53-6BEA9489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10025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799113-133A-4A42-8DC5-3E6E271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100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Manual versus guided comparison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C1D8E8-021E-4B73-87F7-7953D108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6245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1D8F60-1AC3-4035-9BAB-7129D964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Accuracy limitations and safety 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EFAF8A-B110-417C-B41D-47EFAE81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14875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727F7A-CC8E-4714-92D2-5D2573D8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14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Official competitor media and sources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A6B698-3D38-469F-87FC-E1711493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00775"/>
            <a:ext cx="1085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Scope coverage reflects requested Project 2 deliverables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6E1BD0-E2F4-4A4B-AC1E-69A3A313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Project 2 | Manual vs. Navigation-Guided Neurosurgical Procedure Analysis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3B4A49-3FAE-4FC5-92CE-5D4D1103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960170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AB8CE6-606A-4B82-9775-FF263CF3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Sources and media credits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B5791-A169-4125-BD27-F60B4297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Official product information and media accessed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73814-F966-4354-8052-33523DE7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DCE11-9127-43A3-A56F-7119443B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Medtronic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5DCBE-0D47-4105-AD09-320D2FB8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714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StealthStation S8 Navigation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B2C16-B045-4D46-B04D-9A39E70E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81200"/>
            <a:ext cx="781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https://www.medtronic.com/en-us/healthcare-professionals/products/surgical-navigation-imaging/surgical-navigation-systems/stealthstation-s8-navigation-platform.html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5C461-9A5D-436B-A7E9-7503C659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14575"/>
            <a:ext cx="997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0CD42-538E-42C7-8B02-CC603925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Stryker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06025-26A1-41F5-BAC3-033ED02D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Q Guidance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86315-AA9A-4B1E-981D-AF21A62B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43200"/>
            <a:ext cx="781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https://www.stryker.com/us/en/spine/products/q-guidance-system.html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FBA27-4CDB-4BD2-A42E-47EC9F8C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997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67EFF-DFC9-4D45-B72C-1AF05AD4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Globus Medical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304F4-2DF5-4870-BADB-ED225D22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38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ExcelsiusGPS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4B081-7D06-4154-AB4D-D30C8E99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05200"/>
            <a:ext cx="781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https://www.globusmedical.com/musculoskeletal-solutions/excelsiustechnology/excelsiusgps/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9B417-39DB-494C-B9D7-6D013C2A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997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7B1AB-E9A0-448E-880B-BAD9672C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Brainlab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DFEF6-1677-4A8A-AAA3-3856C2E0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00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Cranial Navigation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E16CBF-0170-45C3-A0C6-89319E5B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67200"/>
            <a:ext cx="781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https://www.brainlab.com/surgery-products/overview-neurosurgery-products/cranial-navigation/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8B2CA-C21B-4385-BA4B-7C750D08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997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AA9C8-76BE-4917-9587-6BC07366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9243A"/>
                </a:solidFill>
                <a:latin typeface="Helvetica Neue"/>
                <a:ea typeface="Helvetica Neue"/>
                <a:cs typeface="Helvetica Neue"/>
              </a:rPr>
              <a:t>Medtronic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BCCBF-2282-497D-BD2D-A7E49130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62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84D"/>
                </a:solidFill>
                <a:latin typeface="Helvetica Neue"/>
                <a:ea typeface="Helvetica Neue"/>
                <a:cs typeface="Helvetica Neue"/>
              </a:rPr>
              <a:t>Neurosurgery imaging and navigation systems / brain-shift information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E3B530-9C91-4FF3-9F47-5B071FC2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29200"/>
            <a:ext cx="781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https://www.medtronic.com/se-sv/healthcare-professionals/products/neurological/surgical-navigation-imaging/neurosurgery-imaging-surgical-navigation/systems-software-instruments.html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38A18-0985-4C3D-ABEB-B82F99A0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62575"/>
            <a:ext cx="997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79FF7D-1210-4E0B-8F7D-31C317E1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Media asset URLs appear in the speaker notes for the slides that contain them. All vendor names and media remain the property of their respective owners.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2C831F-D9D6-4C68-B03C-AD09F0C2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Project 2 | Manual vs. Navigation-Guided Neurosurgical Procedure Analysis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E8BA96-B7D9-48EF-A4D2-866B2D29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9708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70951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2026-10-08T07:31:39.3770000Z</dcterms:created>
  <dcterms:modified xsi:type="dcterms:W3CDTF">2026-10-08T07:31:39.3770000Z</dcterms:modified>
</coreProperties>
</file>