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96af49bdbe4c63" /><Relationship Type="http://schemas.openxmlformats.org/officeDocument/2006/relationships/extended-properties" Target="/docProps/app.xml" Id="Re209cb42559941b0" /><Relationship Type="http://schemas.openxmlformats.org/officeDocument/2006/relationships/officeDocument" Target="/ppt/presentation.xml" Id="R61cb6b6bea5942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7a821b7c6e4bd3"/>
  </p:sldMasterIdLst>
  <p:notesMasterIdLst>
    <p:notesMasterId xmlns:r="http://schemas.openxmlformats.org/officeDocument/2006/relationships" r:id="R46eb87e5e19a4a9c"/>
  </p:notesMasterIdLst>
  <p:sldIdLst>
    <p:sldId xmlns:r="http://schemas.openxmlformats.org/officeDocument/2006/relationships" id="256" r:id="Rf78db59c1bf1457d"/>
    <p:sldId xmlns:r="http://schemas.openxmlformats.org/officeDocument/2006/relationships" id="257" r:id="R70e14cff6da042e3"/>
    <p:sldId xmlns:r="http://schemas.openxmlformats.org/officeDocument/2006/relationships" id="258" r:id="R858e1575c9fe478d"/>
    <p:sldId xmlns:r="http://schemas.openxmlformats.org/officeDocument/2006/relationships" id="259" r:id="Ra2480755b2d84254"/>
    <p:sldId xmlns:r="http://schemas.openxmlformats.org/officeDocument/2006/relationships" id="260" r:id="R23825e60c4e94178"/>
    <p:sldId xmlns:r="http://schemas.openxmlformats.org/officeDocument/2006/relationships" id="261" r:id="R9be4ed06ec2f420a"/>
    <p:sldId xmlns:r="http://schemas.openxmlformats.org/officeDocument/2006/relationships" id="262" r:id="R0fb757b9573a4f7b"/>
    <p:sldId xmlns:r="http://schemas.openxmlformats.org/officeDocument/2006/relationships" id="263" r:id="R24402c0b77db41fb"/>
    <p:sldId xmlns:r="http://schemas.openxmlformats.org/officeDocument/2006/relationships" id="264" r:id="Re78842138f42453c"/>
    <p:sldId xmlns:r="http://schemas.openxmlformats.org/officeDocument/2006/relationships" id="265" r:id="Raed1cded856b4249"/>
    <p:sldId xmlns:r="http://schemas.openxmlformats.org/officeDocument/2006/relationships" id="266" r:id="R94d2e8da395142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ee0a3982aa4a8f" /><Relationship Type="http://schemas.openxmlformats.org/officeDocument/2006/relationships/slideMaster" Target="/ppt/slideMasters/slideMaster1.xml" Id="R0c7a821b7c6e4bd3" /><Relationship Type="http://schemas.openxmlformats.org/officeDocument/2006/relationships/notesMaster" Target="/ppt/notesMasters/notesMaster1.xml" Id="R46eb87e5e19a4a9c" /><Relationship Type="http://schemas.openxmlformats.org/officeDocument/2006/relationships/presProps" Target="/ppt/presProps.xml" Id="R489cd71aa37248f1" /><Relationship Type="http://schemas.openxmlformats.org/officeDocument/2006/relationships/tableStyles" Target="/ppt/tableStyles.xml" Id="R123d6b6ff7a84dd8" /><Relationship Type="http://schemas.openxmlformats.org/officeDocument/2006/relationships/slide" Target="/ppt/slides/slide1.xml" Id="Rf78db59c1bf1457d" /><Relationship Type="http://schemas.openxmlformats.org/officeDocument/2006/relationships/slide" Target="/ppt/slides/slide2.xml" Id="R70e14cff6da042e3" /><Relationship Type="http://schemas.openxmlformats.org/officeDocument/2006/relationships/slide" Target="/ppt/slides/slide3.xml" Id="R858e1575c9fe478d" /><Relationship Type="http://schemas.openxmlformats.org/officeDocument/2006/relationships/slide" Target="/ppt/slides/slide4.xml" Id="Ra2480755b2d84254" /><Relationship Type="http://schemas.openxmlformats.org/officeDocument/2006/relationships/slide" Target="/ppt/slides/slide5.xml" Id="R23825e60c4e94178" /><Relationship Type="http://schemas.openxmlformats.org/officeDocument/2006/relationships/slide" Target="/ppt/slides/slide6.xml" Id="R9be4ed06ec2f420a" /><Relationship Type="http://schemas.openxmlformats.org/officeDocument/2006/relationships/slide" Target="/ppt/slides/slide7.xml" Id="R0fb757b9573a4f7b" /><Relationship Type="http://schemas.openxmlformats.org/officeDocument/2006/relationships/slide" Target="/ppt/slides/slide8.xml" Id="R24402c0b77db41fb" /><Relationship Type="http://schemas.openxmlformats.org/officeDocument/2006/relationships/slide" Target="/ppt/slides/slide9.xml" Id="Re78842138f42453c" /><Relationship Type="http://schemas.openxmlformats.org/officeDocument/2006/relationships/slide" Target="/ppt/slides/slide10.xml" Id="Raed1cded856b4249" /><Relationship Type="http://schemas.openxmlformats.org/officeDocument/2006/relationships/slide" Target="/ppt/slides/slide11.xml" Id="R94d2e8da395142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b13ac1785849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e452cc3baf49cd" /><Relationship Type="http://schemas.openxmlformats.org/officeDocument/2006/relationships/notesMaster" Target="/ppt/notesMasters/notesMaster1.xml" Id="R91b4b1285c4343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f451f16cfb4d31" /><Relationship Type="http://schemas.openxmlformats.org/officeDocument/2006/relationships/notesMaster" Target="/ppt/notesMasters/notesMaster1.xml" Id="Rb248f60ea9ba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fbda2755c2433b" /><Relationship Type="http://schemas.openxmlformats.org/officeDocument/2006/relationships/notesMaster" Target="/ppt/notesMasters/notesMaster1.xml" Id="Rcd70e9a8ee7149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91f05359da4169" /><Relationship Type="http://schemas.openxmlformats.org/officeDocument/2006/relationships/notesMaster" Target="/ppt/notesMasters/notesMaster1.xml" Id="Re1d9b655ccaa49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00fbb46bae4981" /><Relationship Type="http://schemas.openxmlformats.org/officeDocument/2006/relationships/notesMaster" Target="/ppt/notesMasters/notesMaster1.xml" Id="R3d586952aa6740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a15e71d627443d" /><Relationship Type="http://schemas.openxmlformats.org/officeDocument/2006/relationships/notesMaster" Target="/ppt/notesMasters/notesMaster1.xml" Id="Re9d9616fd40443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e6515af1f7451c" /><Relationship Type="http://schemas.openxmlformats.org/officeDocument/2006/relationships/notesMaster" Target="/ppt/notesMasters/notesMaster1.xml" Id="Re995fb349dde45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efcc871b6d4d99" /><Relationship Type="http://schemas.openxmlformats.org/officeDocument/2006/relationships/notesMaster" Target="/ppt/notesMasters/notesMaster1.xml" Id="Rdad021f351b343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bab90f14634782" /><Relationship Type="http://schemas.openxmlformats.org/officeDocument/2006/relationships/notesMaster" Target="/ppt/notesMasters/notesMaster1.xml" Id="R9b2d064b9f3845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400df095e1493e" /><Relationship Type="http://schemas.openxmlformats.org/officeDocument/2006/relationships/notesMaster" Target="/ppt/notesMasters/notesMaster1.xml" Id="R0193a756082242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1024b28b1c48b4" /><Relationship Type="http://schemas.openxmlformats.org/officeDocument/2006/relationships/notesMaster" Target="/ppt/notesMasters/notesMaster1.xml" Id="Ra6db7da07bfb4e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project2_navigation/competitor_analysis.md; navigation_workflows.md; instrument_taxonomy.md.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project2_navigation/competitor_analysis.md. Platform attributes are a research summary, not a clinical recommendation.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project2_navigation/competitor_matrix.csv and competitor_analysis.md.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project2_navigation/navigation_workflows.md.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project2_navigation/instrument_taxonomy.md.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project2_navigation/opportunity_matrix.csv. Impact labels reflect the project opportunity matrix, not validated clinical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docs/technical_architecture.md; project1_vertebra_segmentation/models/baseline_selection.md. Current-state wording reflects repository status as of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project1_vertebra_segmentation/literature/literature_review.md; docs/technical_architecture.md; PROJECT_STATUS.md.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PROJECT_STATUS.md; docs/MEETING_READINESS.md; project2_navigation/opportunity_matrix.csv.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image source: Globus Medical, ExcelsiusGPS product page. Image asset: https://www.globusmedical.com/wp-content/themes/globus/images/posters/EGPS/EGPS-navinstruments.webp. Product page: https://www.globusmedical.com/musculoskeletal-solutions/excelsiustechnology/excelsiusgps/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sources: Globus Medical ExcelsiusGPS product page: https://www.globusmedical.com/musculoskeletal-solutions/excelsiustechnology/excelsiusgps/. Official product media assets: https://www.globusmedical.com/wp-content/themes/globus/images/posters/EGPS/EGPS-header-intro.webp and https://www.globusmedical.com/wp-content/themes/globus/images/scrollers/egps/EXCL_GPS_1801_TECH_FINALCONSTRUCT_ExcelsiusGPS_C.webp. Official video embedded on the product page: https://www.youtube.com/watch?v=06YapAnXl6A. The deck links to the video rather than embedding it so it stays portable.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9e7d975bfa42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896f0c385648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00cd1b8d845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ed74a1c0747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112fe338943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3622cbb5564e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5FA06B-8250-48FD-82B0-E69E66FF81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45E923-B073-4C75-A8EB-EBFF7C4DB2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0C430F-8C8D-4CD7-AA6E-85F2015647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29E6C5-C50D-4C1C-99BC-EE73CB4E08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AA03654-E0F9-4287-B52A-75DC89235F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A8619DD-C67A-4809-953C-BB8088B1B6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FE9144-E655-41DE-8BBE-20173E8BB8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FE95D6-B877-4534-B521-B82D61751EC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3A6F0C-4E45-4DAB-BA75-F2DF25B1F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22D23A-DBC9-4307-97DB-09FA89DF1F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3d985217474358" /><Relationship Type="http://schemas.openxmlformats.org/officeDocument/2006/relationships/slideLayout" Target="/ppt/slideLayouts/slideLayout1.xml" Id="Rd8bfe1fd3a3b4000" /><Relationship Type="http://schemas.openxmlformats.org/officeDocument/2006/relationships/slideLayout" Target="/ppt/slideLayouts/slideLayout2.xml" Id="R8b19fff466eb4544" /><Relationship Type="http://schemas.openxmlformats.org/officeDocument/2006/relationships/slideLayout" Target="/ppt/slideLayouts/slideLayout3.xml" Id="R5231e70934494ce7" /><Relationship Type="http://schemas.openxmlformats.org/officeDocument/2006/relationships/slideLayout" Target="/ppt/slideLayouts/slideLayout4.xml" Id="R511085098bef49b1" /><Relationship Type="http://schemas.openxmlformats.org/officeDocument/2006/relationships/slideLayout" Target="/ppt/slideLayouts/slideLayout5.xml" Id="Rc4030df7211b4bda" /><Relationship Type="http://schemas.openxmlformats.org/officeDocument/2006/relationships/slideLayout" Target="/ppt/slideLayouts/slideLayout6.xml" Id="Rbbda301d4b9a41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bfe1fd3a3b4000"/>
    <p:sldLayoutId xmlns:r="http://schemas.openxmlformats.org/officeDocument/2006/relationships" id="2147483650" r:id="R8b19fff466eb4544"/>
    <p:sldLayoutId xmlns:r="http://schemas.openxmlformats.org/officeDocument/2006/relationships" id="2147483651" r:id="R5231e70934494ce7"/>
    <p:sldLayoutId xmlns:r="http://schemas.openxmlformats.org/officeDocument/2006/relationships" id="2147483652" r:id="R511085098bef49b1"/>
    <p:sldLayoutId xmlns:r="http://schemas.openxmlformats.org/officeDocument/2006/relationships" id="2147483653" r:id="Rc4030df7211b4bda"/>
    <p:sldLayoutId xmlns:r="http://schemas.openxmlformats.org/officeDocument/2006/relationships" id="2147483654" r:id="Rbbda301d4b9a41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4888e7a22f4ea0" /><Relationship Type="http://schemas.openxmlformats.org/officeDocument/2006/relationships/notesSlide" Target="/ppt/notesSlides/notesSlide1.xml" Id="R79895efa3a9745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47179d334b424d" /><Relationship Type="http://schemas.openxmlformats.org/officeDocument/2006/relationships/notesSlide" Target="/ppt/notesSlides/notesSlide2.xml" Id="R9f6956a55fd041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29bc5e6ac740e5" /><Relationship Type="http://schemas.openxmlformats.org/officeDocument/2006/relationships/notesSlide" Target="/ppt/notesSlides/notesSlide3.xml" Id="Rdfaf96f5e1a349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8f3d93d3f14edd" /><Relationship Type="http://schemas.openxmlformats.org/officeDocument/2006/relationships/notesSlide" Target="/ppt/notesSlides/notesSlide4.xml" Id="R095eeca2762041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a1704d490d4440" /><Relationship Type="http://schemas.openxmlformats.org/officeDocument/2006/relationships/notesSlide" Target="/ppt/notesSlides/notesSlide5.xml" Id="Rdd4d2de50fc641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e8f946b28241b2" /><Relationship Type="http://schemas.openxmlformats.org/officeDocument/2006/relationships/notesSlide" Target="/ppt/notesSlides/notesSlide6.xml" Id="R910eaacb02354c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0da0bf7e6141ea" /><Relationship Type="http://schemas.openxmlformats.org/officeDocument/2006/relationships/notesSlide" Target="/ppt/notesSlides/notesSlide7.xml" Id="Ra95eb948f4bd43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ce9396fbd46c0" /><Relationship Type="http://schemas.openxmlformats.org/officeDocument/2006/relationships/notesSlide" Target="/ppt/notesSlides/notesSlide8.xml" Id="Ra28ba351750445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0d16ad83c745b5" /><Relationship Type="http://schemas.openxmlformats.org/officeDocument/2006/relationships/notesSlide" Target="/ppt/notesSlides/notesSlide9.xml" Id="Re19815c84b5945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3541a0ae6f4f00" /><Relationship Type="http://schemas.openxmlformats.org/officeDocument/2006/relationships/image" Target="/ppt/media/image.bin" Id="R30d4c63520b9440c" /><Relationship Type="http://schemas.openxmlformats.org/officeDocument/2006/relationships/notesSlide" Target="/ppt/notesSlides/notesSlide10.xml" Id="Rb1c9e3a0cd634c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25fa43d99043dc" /><Relationship Type="http://schemas.openxmlformats.org/officeDocument/2006/relationships/image" Target="/ppt/media/image2.bin" Id="Ra5be9920057a44da" /><Relationship Type="http://schemas.openxmlformats.org/officeDocument/2006/relationships/image" Target="/ppt/media/image3.bin" Id="Rfce89cf62f20417f" /><Relationship Type="http://schemas.openxmlformats.org/officeDocument/2006/relationships/notesSlide" Target="/ppt/notesSlides/notesSlide11.xml" Id="Raa21545b115b47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D8994-4339-49D5-9FE3-A9A5EE67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96DDE-7CCA-400C-ABCA-308F641C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F62F6-9BAC-4B3D-B505-CF8C8361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52550"/>
            <a:ext cx="7429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Manual vs. Navigation-Guided</a:t>
            </a:r>
          </a:p>
          <a:p xmlns:a="http://schemas.openxmlformats.org/drawingml/2006/main">
            <a:pPr>
              <a:buNone/>
              <a:def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Spine Surgery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B1CF5-12E4-464D-842E-213D2140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695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rPr>
              <a:t>Project 2 competitive analysis, workflow mapping, and integration opportunities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E6DB7-3108-48A4-9A1C-A3CD3E91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52925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6048B-37B2-4544-BFEC-50E156FB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Durga Moorthy</a:t>
            </a:r>
          </a:p>
          <a:p xmlns:a="http://schemas.openxmlformats.org/drawingml/2006/main">
            <a:pPr>
              <a:buNone/>
              <a:def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October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6A621-2757-4B1B-AFFD-40650039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rPr>
              <a:t>Scope</a:t>
            </a:r>
          </a:p>
          <a:p xmlns:a="http://schemas.openxmlformats.org/drawingml/2006/main">
            <a:pPr>
              <a:buNone/>
              <a:defRPr sz="1275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rPr>
              <a:t>Five navigation platforms</a:t>
            </a:r>
          </a:p>
          <a:p xmlns:a="http://schemas.openxmlformats.org/drawingml/2006/main">
            <a:pPr>
              <a:buNone/>
              <a:defRPr sz="1275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rPr>
              <a:t>Eleven workflow stages</a:t>
            </a:r>
          </a:p>
          <a:p xmlns:a="http://schemas.openxmlformats.org/drawingml/2006/main">
            <a:pPr>
              <a:buNone/>
              <a:defRPr sz="1275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rPr>
              <a:t>Five instrument categories</a:t>
            </a:r>
          </a:p>
        </p:txBody>
      </p:sp>
    </p:spTree>
    <p:extLst>
      <p:ext uri="{BB962C8B-B14F-4D97-AF65-F5344CB8AC3E}">
        <p14:creationId xmlns:p14="http://schemas.microsoft.com/office/powerpoint/2010/main" val="5812700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9D0C77-C8EE-4978-9768-0BB78D8D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Competitive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5B8BC-C56C-4DCA-A8D4-8C64CAC7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Five platforms cover different combinations of imaging, tracking, and robotic guidance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183B9-7C42-4FB0-9C01-B69D7350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98173-8EB0-4BB0-B27F-2579C2D6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1924050" cy="3067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6C4F8B-E480-43A0-ABB4-9A85683F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43100"/>
            <a:ext cx="1924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2645A-677B-4E78-AD3F-D83D80CF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3478B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347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478B8"/>
                </a:solidFill>
                <a:latin typeface="Helvetica Neue"/>
                <a:ea typeface="Helvetica Neue"/>
                <a:cs typeface="Helvetica Neue"/>
              </a:rPr>
              <a:t>Medtronic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B23AF-4717-406F-85A3-81628658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StealthStation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C205F-57D8-472C-A455-844763F4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Mature navigation</a:t>
            </a:r>
          </a:p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Multi-specialty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DE086-F10E-4BD0-9900-FE3E8BDF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43100"/>
            <a:ext cx="1924050" cy="3067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300B3-E6DD-4DE6-ABDC-9B6316D4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43100"/>
            <a:ext cx="1924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BE5C4-BF47-4D87-B4BA-DEC3122C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4315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Globus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7FD0F-6F25-4DAD-817A-9FEF33E0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ExcelsiusGPS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A3613-F215-4149-BCC9-A272AE7A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38550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Spine focus</a:t>
            </a:r>
          </a:p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Integrated robotics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62B54-EA4C-4B94-8D29-FEC01AC4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43100"/>
            <a:ext cx="1924050" cy="3067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B8021-A410-4CD5-8D31-44220E41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43100"/>
            <a:ext cx="1924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28916-25D4-4787-92B7-CDFDA3EA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4315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E3A7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E3A7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E3A72F"/>
                </a:solidFill>
                <a:latin typeface="Helvetica Neue"/>
                <a:ea typeface="Helvetica Neue"/>
                <a:cs typeface="Helvetica Neue"/>
              </a:rPr>
              <a:t>Stryker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81C3E0-AB07-45A5-B4BD-D0872DB4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24150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Navigation platforms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C44AE-97A9-41C2-A3C5-40223BA5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38550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CT and fluoroscopy</a:t>
            </a:r>
          </a:p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Hybrid tracking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B1AC7-888F-4D4A-9574-9A850A0A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43100"/>
            <a:ext cx="1924050" cy="3067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7F0C9-A6B3-4022-A081-17F70AC7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43100"/>
            <a:ext cx="1924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E57BB-E07C-4E8F-BE92-4DB81335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4315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96C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D96C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D96C5F"/>
                </a:solidFill>
                <a:latin typeface="Helvetica Neue"/>
                <a:ea typeface="Helvetica Neue"/>
                <a:cs typeface="Helvetica Neue"/>
              </a:rPr>
              <a:t>Brainlab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08F81-AC2C-423B-B409-57B0846F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24150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Spine Suite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53ED2-7F1D-4027-8BF1-98315726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38550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Multi-modal imaging</a:t>
            </a:r>
          </a:p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Modular workflow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8E3E0A-0AF7-4915-8A6D-0010DEC0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43100"/>
            <a:ext cx="1924050" cy="3067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3CC6A0-018F-4A15-9AAA-A7916DD1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943100"/>
            <a:ext cx="19240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D6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C7F423-2A55-4E3F-8FDA-C03D5785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4315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3A8D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3A8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A8D6A"/>
                </a:solidFill>
                <a:latin typeface="Helvetica Neue"/>
                <a:ea typeface="Helvetica Neue"/>
                <a:cs typeface="Helvetica Neue"/>
              </a:rPr>
              <a:t>7D Surgical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7CE9B7-D611-4C7F-AAF3-EB964754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24150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Surgical AI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9521CD-C560-44CF-8F2D-ABC820AA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38550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Markerless tracking</a:t>
            </a:r>
          </a:p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Intraoperative 3D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BD771F-2006-4DB0-8B84-DA77D848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Comparison focus: platform workflow, registration, tracking, imaging, planning automation, and surgical guidance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43E3C9-4830-479B-A97E-24276AA6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Project 2 surgical navigation analysis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ECA63D-5970-4EF7-964B-D773AC1F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86884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856FAA-112C-44E0-80FC-672F4E2B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Platform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B3F1E-6513-4562-97AA-F6279089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The market divides around imaging, tracking reference, and robotic execution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9A6C4-A1D4-430B-B63C-510D75B8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58E34-B3C9-4EE4-A412-46DAB8EC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2000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68CAA-5E8A-4411-B37C-98047372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38325"/>
            <a:ext cx="1771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45A09-40E8-40D2-8E0E-9B05670D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33550"/>
            <a:ext cx="2238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FE305-1EFC-4A74-A722-DB34C60B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38325"/>
            <a:ext cx="2009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Planning and imaging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3FA21-BCF1-408E-A9BC-F0526B12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33550"/>
            <a:ext cx="2686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4FC73-CED0-49E1-A228-0423C9E0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38325"/>
            <a:ext cx="245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Tracking or registration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B5F37-5D36-4830-8443-CD029805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33550"/>
            <a:ext cx="32766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022AB-8394-4E3A-BBB1-3015D265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383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Guidance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2F082-AE10-405D-B029-3C4B0D04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000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A34070-C81F-4EC0-889D-87078DDD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1771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StealthStation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01B03F-B022-43A9-B9D9-372AA7D9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22383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499C6-0F4F-4F8A-85E7-E53E917B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05050"/>
            <a:ext cx="20097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CT and fluoroscopy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BF5F5-1EF6-4B65-8D9E-0C12237C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2686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97FF4F-E25A-4016-82A9-D66D0AF2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05050"/>
            <a:ext cx="2457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Optical reference arrays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42A18-ACE9-4D51-82A8-2924048D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71700"/>
            <a:ext cx="3276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491CF0-79B4-49E8-B491-740CD09B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Navigation display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D601CE-FFE5-4DB5-B216-101BFAEA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2000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A28499-9093-4041-85E3-ADB4853D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1771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ExcelsiusGPS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D11475-3780-4105-8C77-41330E42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86075"/>
            <a:ext cx="22383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00E01A-4856-4390-9D59-1FE72606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19425"/>
            <a:ext cx="20097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Preoperative 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B1EF2-C227-43CF-B932-C0314A04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86075"/>
            <a:ext cx="2686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D298A9-B2F9-44D9-974D-5097DBD4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19425"/>
            <a:ext cx="2457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Surface reference and optical tracking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F56F48-29AD-452F-ACAF-70765D50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86075"/>
            <a:ext cx="3276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CC6A40-D800-4E12-93DF-DB0DA9BD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19425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Robotic drill guide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6A3219-394F-48D0-A1D5-14EA110A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2000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545001-EF2C-4EBB-933B-4D3D8773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1771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Stryker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E37EF-D15E-4781-8B27-6A5BA355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22383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E67F4E-0190-4B4F-8106-93DF8B52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33800"/>
            <a:ext cx="20097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CT and fluoroscopy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A6454B-E4D6-4F12-9A76-FE2D0609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2686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F9D9E0-5294-4AA7-8B80-F2DC77B4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33800"/>
            <a:ext cx="2457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Optical and electromagnetic options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1DE3B6-6BDF-49C9-ADF7-CAFFA7CF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0450"/>
            <a:ext cx="3276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956463-6A14-43EB-87E2-DD5AB73D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Navigation with hybrid integration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33E62E-2719-4711-8393-0DBD7ECD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14825"/>
            <a:ext cx="2000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E5C4B3-5FB5-451F-8FAC-EEA7F696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771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Brainlab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A6FC96-C45F-4EC9-9489-5A6E5A1B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14825"/>
            <a:ext cx="22383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CDB3D6-141B-4F9F-97F2-463F90D2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48175"/>
            <a:ext cx="20097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CT, MRI, PET, iCT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2A5C8B-DDEF-4548-9D82-88C446B2A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14825"/>
            <a:ext cx="2686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955267-A894-4BAF-987A-869A7CAB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48175"/>
            <a:ext cx="2457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Optical and multi-modal registration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FA5160-1EE2-4FAE-8A1D-5178CD59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14825"/>
            <a:ext cx="3276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8AAD58-006A-42BF-8B1F-44550D16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48175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Modular navigation and optional robotics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EEEDF3-165A-4F1D-9DD4-F21C3E74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20002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20BFBF-EC6B-42F0-B411-040E0EEC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62550"/>
            <a:ext cx="1771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7D Surgical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6AFD6E4-30C1-4298-8374-E88C2A4D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22383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DB81EF-54A0-4C67-AAAD-558B9779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62550"/>
            <a:ext cx="20097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Intraoperative 3D imaging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CD390D-5700-4B25-AA89-E49E5F18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29200"/>
            <a:ext cx="26860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84EF9C-3B5B-4065-AEF3-11787866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62550"/>
            <a:ext cx="2457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Markerless vision registration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6554E7-7949-4066-8A9A-E59CB683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29200"/>
            <a:ext cx="32766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2F2C40-F93F-4E89-8B42-8F95AD17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6255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Real-time image guidance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0FAA2C-E81B-4BB9-AD54-9B54FC8D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Project 2 surgical navigation analysis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3756A3-0BAE-4739-ACAB-C4B3BDA1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8423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A86B46-69DF-494D-909D-97AE6455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Spine navigation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15808-FF58-491E-B9B1-6B26F2A3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Eleven stages connect preoperative planning with intraoperative guidance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D6DB0-1956-4B73-B6E4-698330FD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C994C-AF3F-473C-8AC5-311E21D4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478B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347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478B8"/>
                </a:solidFill>
                <a:latin typeface="Helvetica Neue"/>
                <a:ea typeface="Helvetica Neue"/>
                <a:cs typeface="Helvetica Neue"/>
              </a:rPr>
              <a:t>Preoperative planning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B4808-7A2D-4F92-9CF4-571C35F7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7BDEF-93BC-4009-8AB1-F889A952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83DA2-F730-4607-A776-E47D2A31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1 Assessment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B7101-CF72-4171-95E7-7AF2B013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1945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2B76A-BA1D-4E65-A30F-8CEDC933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43275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2 Imaging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B677F-993B-43D7-9E66-7EAEAF08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8D853-7839-4C09-BA60-E09F66D7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29075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3 Segmentation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ADC2E-055B-4BB7-9CF0-D029053F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381E5-D78B-416D-B33D-7CF7DB24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14875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4 Trajectory design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C0F53-302C-49D2-9C1B-335542DE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Operative setup and registration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B50A3-4C8E-4000-A2B2-48E7E4BE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4790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23A2C3-CCEF-4D24-B25F-BD18EC98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3365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0F6BE-F796-4115-B8E1-055D0E99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57475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5 Patient setup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60854-D51C-44EC-A134-45EAFCE7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1945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7ADE9-7404-4966-A895-D2AA2FC3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43275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6 Registration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4DD286-9EEA-4A7B-B5F6-EF77ED22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0525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FBD46-F281-41C9-8181-75FE5580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29075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7 Instrument calibration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5C108-765F-4DD6-B2D2-CD0CFA00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47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3A7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E3A7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3A72F"/>
                </a:solidFill>
                <a:latin typeface="Helvetica Neue"/>
                <a:ea typeface="Helvetica Neue"/>
                <a:cs typeface="Helvetica Neue"/>
              </a:rPr>
              <a:t>Guidance and verification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C54722-4771-4770-A982-93B53964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342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546D1-03D1-407B-9A1F-772D6056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3365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6E9D61-23E0-47C0-AD1F-49B09D14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57475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8 Guided execution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185710-B81D-42A7-81B3-03F7D6C7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1945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780C8B-CAD9-42F7-B82D-DC7A82AF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43275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9 Intraoperative check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D46B3F-7D3C-4D3E-95BC-075BF690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0525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584FD8-BCE7-4462-80C8-E2B8D7AD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29075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10 Closure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184AFC-2E72-46DA-BBF9-3855250D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91050"/>
            <a:ext cx="3429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F8F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36ACAA-DE1B-4E92-810F-55B9EA6B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14875"/>
            <a:ext cx="3086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11 Postoperative imaging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9345B3-6A1B-47B0-B211-51C79B79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Project 1 contributes at stages 2–4: CT preprocessing, vertebral segmentation, labeling, and planning inputs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6C90C6-0797-4B90-918F-E4126ADE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Project 2 surgical navigation analysis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FB3D23-508A-43BC-BAD0-0A7A95DA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634066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33EA4E-DF64-4742-979D-5F8F4A90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Instrument and system taxonomy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612FC-7116-4056-8DAD-880C633D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Navigation depends on a linked chain of patient reference, tracked tools, imaging, and control hardware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9501F-655B-4896-A294-E5688CD0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4B002-550C-4F74-A8A2-852B7CF7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1924050" cy="22669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C7952-84DF-413C-9343-48BA7E16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478B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AEBFE-081C-4915-9129-49484688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33DE5-2FC8-4B20-9EE5-9983102A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Reference frames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DF6B2-AA53-4CF8-AFA2-D8B7973F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1571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Patient-mounted arrays</a:t>
            </a:r>
          </a:p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Markerless landmarks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383A4-E6D7-4417-B990-C7D8B49B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924050" cy="22669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E5B76-B8CD-408D-A52E-BEDD71B1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6697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8DEC5D-230A-4AB0-9567-A3A5F6AF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71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654B7-9460-4B45-99EA-E83180B5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71825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Surgical instruments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46505-096D-4E84-8D25-7AB3A6B1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52850"/>
            <a:ext cx="1571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Probe</a:t>
            </a:r>
          </a:p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Drill guide</a:t>
            </a:r>
          </a:p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Insertion tool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372D8C-BCAB-44C1-BEDE-1182F186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38375"/>
            <a:ext cx="1924050" cy="22669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D67F8-436E-47CF-B810-A2482F4C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6697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3A72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A74D2-6017-456F-9BF8-3494EB99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71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3D979-1916-4575-809D-C10742B6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71825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Imaging and displays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86342-55D3-411A-950E-34E04B81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52850"/>
            <a:ext cx="1571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Fluoroscopy</a:t>
            </a:r>
          </a:p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Cone-beam CT</a:t>
            </a:r>
          </a:p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Navigation monitor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03F3A-A91D-4A9B-9C5F-4EBCAA2D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924050" cy="22669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FE89D-1245-4C28-A943-D2FF6F9A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6697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D48A93-F57A-407A-8350-AB9697ED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16D738-2D03-4666-8959-B7A912BB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71825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Tracking systems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EFE733-8BF6-4D66-B62D-69FBF08F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752850"/>
            <a:ext cx="1571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Optical cameras</a:t>
            </a:r>
          </a:p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EM transmitter and sensors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5CD9E-9AF1-4D82-9FC5-7FF5A1E1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38375"/>
            <a:ext cx="1924050" cy="22669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EBB1D6-5012-4E38-8C1C-2F991999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66975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A8D6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BCB837-2512-4D92-958E-F6070CF0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717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F62B89-3641-4490-BD6A-24229402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71825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Data and 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F938DF-A882-4035-A179-54CDAB92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52850"/>
            <a:ext cx="1571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Planning workstation</a:t>
            </a:r>
          </a:p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Robotic controller</a:t>
            </a:r>
          </a:p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Audit trail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9C739F-2994-44C3-ACB4-02C409FE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Design implication: segmentation output must align with the CT coordinate system used by registration and instrument tracking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BFC2E5-0282-4DA6-B3D3-0181C128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Project 2 surgical navigation analysis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9AE6F9-2862-4671-9A6B-BFC9888F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103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80ED5C-2ED6-423E-BA3C-7DC1C37C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Where automated vertebral segmentation can add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4922-2B37-4344-9AD4-C89CCEF4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The largest opportunities sit before and during trajectory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09667-F1D6-4CC1-885B-FFD64DE3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94703-8F1E-4416-94D9-48AD76DD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906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A5F34-800F-4062-A34A-F65C3E2B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1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D6D40-A8E2-49C5-B05A-38AEEB06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621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Accelerated planning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2F747-71BF-41A7-9AF4-625EF3F1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621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Auto-segment and label vertebrae before manual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219A1-5B14-46F8-A902-75F24F9D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38350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High impact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A6787-4F63-4340-9308-04FF050A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0906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8861F-D47E-463F-9233-769BD332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11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52BC6-BC28-44F4-B811-DE5B25BE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8607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Pathological anatomy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21CE3-C7B9-4E2D-92B9-226E3804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86075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Flag fractures, scoliosis, degeneration, and prior instrumentation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DFA6A-61B6-4E94-83B8-EC270C62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6227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D96C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D96C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96C5F"/>
                </a:solidFill>
                <a:latin typeface="Helvetica Neue"/>
                <a:ea typeface="Helvetica Neue"/>
                <a:cs typeface="Helvetica Neue"/>
              </a:rPr>
              <a:t>Very high impact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61F23-F376-4223-A7FE-DF60C5C0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906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FF4F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3E42F-696D-4E1A-99D5-683DFFD2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1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A10E9-53BE-415B-8E43-3E64DFE3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000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Intraoperative adaptation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E0058-6A97-4D18-8E40-3A8A2291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100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Use updated imaging to detect meaningful anatomical shift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5A5C0-5B7A-4733-B4D6-624D307F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886200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3478B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347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478B8"/>
                </a:solidFill>
                <a:latin typeface="Helvetica Neue"/>
                <a:ea typeface="Helvetica Neue"/>
                <a:cs typeface="Helvetica Neue"/>
              </a:rPr>
              <a:t>High 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0241F-954D-4DB6-B86B-BAC43273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0906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A27C70-F3DC-436A-9D09-EE929F84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143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A680E-9894-47D9-8C55-DE5C0AE5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339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Instrument-aware trajectories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DA1CD4-2D52-48D1-9A74-640DA06B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33925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Apply geometry and approach constraints to screw paths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F6DD87-4C20-4908-8177-C4867B5A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10125"/>
            <a:ext cx="1762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E3A7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1">
                <a:solidFill>
                  <a:srgbClr val="E3A7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3A72F"/>
                </a:solidFill>
                <a:latin typeface="Helvetica Neue"/>
                <a:ea typeface="Helvetica Neue"/>
                <a:cs typeface="Helvetica Neue"/>
              </a:rPr>
              <a:t>High impact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E5F3D4-0A5A-45B5-BFB1-935718C2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Project 2 surgical navigation analysis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DD696D-6B5A-4DA0-8A6B-12FA019C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90630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D18E90-CF05-41E6-A6B9-E7D35D8D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Proposed integration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AB06E-4A93-4D1E-9254-D20AD389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Project 1 output becomes a structured planning input for navigation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BCF57-A650-4917-A118-28EEFBE9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35735-4733-4723-B068-4539F7F2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619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66B3B-2838-408E-85A4-C99B8125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B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D02B0-978B-46D0-8302-3002D4EB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718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CT volume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6F588-4E99-427E-9ABE-C91D361E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6671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Preoperative 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F771D-B48F-4F7E-8EF4-8395F0D7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575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BE155-0A73-4C7B-B314-1C05A638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57500"/>
            <a:ext cx="1619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80966-D5C9-4681-AA0F-06439913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575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DDC11-AE1F-4E00-AE9B-FC0BF6B1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1718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Vertebral masks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3C14D-E2E7-4319-A649-F9A00190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6671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3D segmentation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2E3CD-227A-4CD5-9FB2-6CBADF6B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2575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C2651-3C45-4E7F-8B25-E2D7BA7C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1619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D0279-1373-480D-934C-DB2A1EEA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72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EF7C9-3AB5-458A-96EA-BE8C6B72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718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Anatomical labels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7E6FF-4E62-4BBD-BA4E-3FAF8062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671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Centroids and level identity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AD4A2-42F9-4A8C-9E9A-28D318BC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2575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32181E-BE7B-4353-A61F-18FB0295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619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0BDEC-1271-4B86-AF54-86F670AA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C5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B7835-08DF-4B11-9A30-415C7DC5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718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Pedicle geometry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FC434-35EF-428B-AD72-3DFF7B73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671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Width, length, orientation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A2382-5F1F-4DF1-89E8-2A1DD85A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2575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5A87AA-7A05-4377-BB2A-D34D642F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1619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A66E60-C4C0-44D1-8C1A-F4E187B9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D6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156040-4B78-4FB1-975B-FB560211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1718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Screw 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2D4CF5-6816-46DB-9181-938C5441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6671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Trajectory and dimensions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F56D4E-19B0-4875-B4AE-95D7AF4E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257550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FF3ED6-0D89-4995-9205-0C841532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57500"/>
            <a:ext cx="1619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4AE0B6-DD05-464A-B8CA-2EFDC7B8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57500"/>
            <a:ext cx="161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A843DA-8163-4BB1-A419-882D6FBD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1718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Navigation display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41C3CA-EBBC-4089-B5F5-6F4CD07E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6671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Surgeon review and guidance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C1C996-905F-4E3A-9B49-D0410B58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720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42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Current state: CT preprocessing and the segmentation baseline are implemented. Labeling, pedicle geometry, and screw planning require validated full-split model output.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92597B-0FDA-4AE7-903C-68B55FE5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Project 2 surgical navigation analysis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38284F-2916-4B4A-B2C0-64760FCD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24542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25BA5F-4D7A-4A86-9363-0D95E7B0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Evidence boundaries and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BD605-2D1A-4480-A003-4DB30F43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The next phase must establish performance before clinical integration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9671B-4824-4183-A460-F23EA53B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5093A-326E-40F7-BA75-1D866735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50958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4F8F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8E6E8-959B-43E2-BDFD-1D848E6F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857375"/>
            <a:ext cx="50958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60E97-C5C2-4288-B2F4-3F7310F8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Evidence needed before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825133-7084-4962-AD12-BD30631E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414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Full VerSe training and held-out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06803-A5EB-48AD-BB5B-AD73AA26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414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Per-vertebra Dice, IoU, and HD95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84C6D6-DD65-40F4-A27B-98B7E174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67125"/>
            <a:ext cx="414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Anatomical labeling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5C0CD-6CDE-48EB-84D6-89466F1B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414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Inference time on a defined 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CA63F-E68C-4AA6-B182-B539582D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414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Failure analysis for pathology and artifacts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AF1A6-BFFA-4836-A33C-0D817822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7170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Cases that require targeted testing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D5976-212F-4AE7-8516-DA862A85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Partial field of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8B1D4-75C1-4BF9-A82C-B9D6DEF9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908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Transitional vertebrae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92C2E-6EA9-4CC8-AEB1-6425B42E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671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Scoliosis and severe degeneration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A126B-9B59-45DC-BCE0-C77DF704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433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Prior instrumentation and metal artifacts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3F531-A6A5-40BA-81FA-5768556D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96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Scanner and protocol variation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2938B-2CB2-489F-A22D-17F98C50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Project 2 surgical navigation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89889-0436-4EA3-A85E-246C7639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618294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EBD88A-91DA-4BBF-8FAC-A4C85AEF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08EE1-AFD0-4197-B308-7CD60F4E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44D87-48B9-46B6-8EF3-664BF0FD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rPr>
              <a:t>A measured path from implementation to validated planning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B8DF8-240A-42AC-9E55-C476A644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328C5-E08A-429F-810C-AE1AF89F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288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2E3CF-62E0-48E2-B745-E7AF734F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9335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Full VerSe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991E0-87B7-44E5-8E8E-44CE8A1A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669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rPr>
              <a:t>Train and evaluate on the official 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BFF0E-3495-49EA-8EE7-72943155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4445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5183C-DA77-4300-B4CF-B4636E13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289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D57C3-E201-4FD3-87CF-73650687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337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Failure analysis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1ADF8-FA0B-404D-B488-C99538C0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26707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rPr>
              <a:t>Review per-vertebra and pathology-specific errors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B98CC-A6D4-4DD6-9E8F-C5D2FA81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4445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3EEE9-162E-46C1-A3BF-7927A7EF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2907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A14C6-DD9F-4E5A-B6A6-AF6C1544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338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Pedicle geometry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C48641-C910-44E8-8F72-7BA5D876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6720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rPr>
              <a:t>Extract anatomy needed for trajectory constraints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47AE1-0718-4DF0-B203-F70A39DB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4445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0A5BB-39DF-4876-B328-5BD7BFC6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0292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3DF08-7313-468D-9649-0367122D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339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Planning prototype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DDD9A-C90E-4653-B416-CECC84B6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67325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6E5EA"/>
                </a:solidFill>
                <a:latin typeface="Helvetica Neue"/>
                <a:ea typeface="Helvetica Neue"/>
                <a:cs typeface="Helvetica Neue"/>
              </a:rPr>
              <a:t>Generate surgeon-reviewable screw plans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020DE-0332-426A-99FE-801A4A49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295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Decisions requested: compute and storage for full training, validation-data access, and the preferred scope for the first pedicle-planning prototype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41A2D-919C-408E-A0FC-312DAF7C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91075"/>
            <a:ext cx="300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E3A72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E3A7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3A72F"/>
                </a:solidFill>
                <a:latin typeface="Helvetica Neue"/>
                <a:ea typeface="Helvetica Neue"/>
                <a:cs typeface="Helvetica Neue"/>
              </a:rPr>
              <a:t>Project 2 research foundation complete</a:t>
            </a:r>
          </a:p>
        </p:txBody>
      </p:sp>
    </p:spTree>
    <p:extLst>
      <p:ext uri="{BB962C8B-B14F-4D97-AF65-F5344CB8AC3E}">
        <p14:creationId xmlns:p14="http://schemas.microsoft.com/office/powerpoint/2010/main" val="3405711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FE7588-AEE5-4C87-A558-5A73BE3A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Intraoperative workflow: official product photograph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1AD21-A480-4D1E-8512-8444C4AD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Competitive-landscape example of tracking, navigation display, and guided instrumentation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42912-20A4-45F6-8D94-473EC2CC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C4008-1463-49E8-9EEE-969F7665ED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4c63520b9440c"/>
          <a:srcRect xmlns:a="http://schemas.openxmlformats.org/drawingml/2006/main" l="2650" t="0" r="26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838325"/>
            <a:ext cx="6334125" cy="3762375"/>
          </a:xfrm>
          <a:prstGeom xmlns:a="http://schemas.openxmlformats.org/drawingml/2006/main" prst="roundRect">
            <a:avLst>
              <a:gd name="adj" fmla="val 303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37FC6-3A73-4E1C-9A5F-DB6AC3AB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38325"/>
            <a:ext cx="4210050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2B6E1-61AB-428E-B531-E6896DD0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319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What the visual shows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5D2E0-9A2E-40A6-A860-BEE4C09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3190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A tracking-enabled robotic arm, navigation display, and surgical instruments share the sterile field. These are the practical workflow elements studied in the Project 2 comparison: registration, guidance, instrumentation, and verification.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509E6-EFA9-499A-B55D-316067FE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24375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Official Globus Medical product-page visual. Included as an example of a vendor workflow—not as a comparative performance claim or endorsement.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4A742-1EF1-47EE-8917-3AFDD5F5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Project 2 surgical navigation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13A9A-7D61-4050-8C74-8CACAF4E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482692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42532-1992-463E-9E5A-FC570F20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Official product media and virtual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1DC73-0ED1-45D7-96CE-A55B25FA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Real imagery and the embedded virtual demonstration from the vendor’s product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66548-26D3-4EE3-B8B0-5211BA6F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55FC8-A581-49A3-AF86-6EE664A335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e9920057a44da"/>
          <a:srcRect xmlns:a="http://schemas.openxmlformats.org/drawingml/2006/main" l="0" t="156" r="0" b="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847850"/>
            <a:ext cx="5095875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F30B9-BAAF-409D-9E72-E9456D6D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ExcelsiusGPS system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5DD64-5CD7-4E6E-B7F2-CC0C348C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500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Official product-page visual showing the navigation camera, monitor, and robotic platform.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E6689-D83C-41DB-A36F-65B8E41E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3885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globusmedical.com/.../excelsiusgps/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EAD10-385C-4B78-B1C0-E68AEC190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89cf62f20417f"/>
          <a:stretch xmlns:a="http://schemas.openxmlformats.org/drawingml/2006/main"/>
        </p:blipFill>
        <p:spPr>
          <a:xfrm xmlns:a="http://schemas.openxmlformats.org/drawingml/2006/main">
            <a:off x="7787399" y="1847850"/>
            <a:ext cx="1941676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BB7FA-5D5F-4734-A10E-0B683D15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10150"/>
            <a:ext cx="5000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B1F33"/>
                </a:solidFill>
                <a:latin typeface="Helvetica Neue"/>
                <a:ea typeface="Helvetica Neue"/>
                <a:cs typeface="Helvetica Neue"/>
              </a:rPr>
              <a:t>Official virtual 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D94DE-3C99-4639-9FE3-684CF325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29275"/>
            <a:ext cx="500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9324A"/>
                </a:solidFill>
                <a:latin typeface="Helvetica Neue"/>
                <a:ea typeface="Helvetica Neue"/>
                <a:cs typeface="Helvetica Neue"/>
              </a:rPr>
              <a:t>The product page includes an official video demonstration of ExcelsiusGPS spine and interbody solutions.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0C000-37A5-4974-8D1E-830C6D06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03885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087E8B"/>
                </a:solidFill>
                <a:latin typeface="Helvetica Neue"/>
                <a:ea typeface="Helvetica Neue"/>
                <a:cs typeface="Helvetica Neue"/>
              </a:rPr>
              <a:t>youtube.com/watch?v=06YapAnXl6A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C91C1F-64A4-485D-B2ED-9C5A9F57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5795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Project 2 surgical navigation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2E24C-1951-4405-915E-745669DD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D7181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1657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2026-10-03T15:58:27.7090000Z</dcterms:created>
  <dcterms:modified xsi:type="dcterms:W3CDTF">2026-10-03T15:58:27.7100000Z</dcterms:modified>
</coreProperties>
</file>